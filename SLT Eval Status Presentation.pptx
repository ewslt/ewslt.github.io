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2161522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640080" y="992703"/>
            <a:ext cx="109728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92" sz="1600">
                <a:solidFill>
                  <a:srgbClr val="D4A017"/>
                </a:solidFill>
              </a:defRPr>
            </a:lvl1pPr>
          </a:lstStyle>
          <a:p>
            <a:pPr/>
            <a:r>
              <a:t>LTRC 2.0  •  GLOBAL STANDARD FOR INDIC AI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640080" y="1629410"/>
            <a:ext cx="10972801" cy="1130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SLT-Eval </a:t>
            </a:r>
            <a:r>
              <a:rPr>
                <a:solidFill>
                  <a:srgbClr val="CCA23C"/>
                </a:solidFill>
              </a:rPr>
              <a:t>2027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640080" y="3055620"/>
            <a:ext cx="109728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2600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Speech and Language Technology Evaluation Workshop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640080" y="3735903"/>
            <a:ext cx="109728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9FB4D8"/>
                </a:solidFill>
              </a:defRPr>
            </a:lvl1pPr>
          </a:lstStyle>
          <a:p>
            <a:pPr/>
            <a:r>
              <a:t>Evaluation as a First-Class Research Problem for Indian Languages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640080" y="5074089"/>
            <a:ext cx="10972801" cy="458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Progress Report &amp; Forward Plan</a:t>
            </a:r>
          </a:p>
          <a:p>
            <a:pPr>
              <a:defRPr sz="1300">
                <a:solidFill>
                  <a:srgbClr val="9FB4D8"/>
                </a:solidFill>
              </a:defRPr>
            </a:pPr>
            <a:r>
              <a:t>Language Technologies Research Centre  •  IIIT Hyderabad</a:t>
            </a:r>
          </a:p>
        </p:txBody>
      </p:sp>
      <p:sp>
        <p:nvSpPr>
          <p:cNvPr id="26" name="Shape 6"/>
          <p:cNvSpPr/>
          <p:nvPr/>
        </p:nvSpPr>
        <p:spPr>
          <a:xfrm>
            <a:off x="-1" y="6748271"/>
            <a:ext cx="12161522" cy="10972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 txBox="1"/>
          <p:nvPr/>
        </p:nvSpPr>
        <p:spPr>
          <a:xfrm>
            <a:off x="457200" y="299720"/>
            <a:ext cx="3657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SLT-Eval 2027</a:t>
            </a:r>
          </a:p>
        </p:txBody>
      </p:sp>
      <p:sp>
        <p:nvSpPr>
          <p:cNvPr id="29" name="Text 1"/>
          <p:cNvSpPr txBox="1"/>
          <p:nvPr/>
        </p:nvSpPr>
        <p:spPr>
          <a:xfrm>
            <a:off x="7315200" y="320084"/>
            <a:ext cx="4389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i="1" sz="1000">
                <a:solidFill>
                  <a:srgbClr val="5F6B7A"/>
                </a:solidFill>
              </a:defRPr>
            </a:lvl1pPr>
          </a:lstStyle>
          <a:p>
            <a:pPr/>
            <a:r>
              <a:t>LTRC 2.0  •  Global Standard for Indic AI</a:t>
            </a:r>
          </a:p>
        </p:txBody>
      </p:sp>
      <p:sp>
        <p:nvSpPr>
          <p:cNvPr id="30" name="Text 2"/>
          <p:cNvSpPr txBox="1"/>
          <p:nvPr/>
        </p:nvSpPr>
        <p:spPr>
          <a:xfrm>
            <a:off x="457200" y="6520180"/>
            <a:ext cx="5486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F6B7A"/>
                </a:solidFill>
              </a:defRPr>
            </a:lvl1pPr>
          </a:lstStyle>
          <a:p>
            <a:pPr/>
            <a:r>
              <a:t>LTRC, IIIT Hyderabad</a:t>
            </a:r>
          </a:p>
        </p:txBody>
      </p:sp>
      <p:sp>
        <p:nvSpPr>
          <p:cNvPr id="31" name="Text 3"/>
          <p:cNvSpPr txBox="1"/>
          <p:nvPr/>
        </p:nvSpPr>
        <p:spPr>
          <a:xfrm>
            <a:off x="457199" y="777239"/>
            <a:ext cx="112471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32" name="Shape 5"/>
          <p:cNvSpPr/>
          <p:nvPr/>
        </p:nvSpPr>
        <p:spPr>
          <a:xfrm>
            <a:off x="457200" y="1874520"/>
            <a:ext cx="91441" cy="1417321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Shape 6"/>
          <p:cNvSpPr/>
          <p:nvPr/>
        </p:nvSpPr>
        <p:spPr>
          <a:xfrm>
            <a:off x="548640" y="1874520"/>
            <a:ext cx="3611880" cy="1417321"/>
          </a:xfrm>
          <a:prstGeom prst="rect">
            <a:avLst/>
          </a:prstGeom>
          <a:solidFill>
            <a:srgbClr val="EEF2F7"/>
          </a:solidFill>
          <a:ln w="6350">
            <a:solidFill>
              <a:srgbClr val="D0DC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7"/>
          <p:cNvSpPr txBox="1"/>
          <p:nvPr/>
        </p:nvSpPr>
        <p:spPr>
          <a:xfrm>
            <a:off x="685800" y="1991360"/>
            <a:ext cx="9144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5" name="Text 8"/>
          <p:cNvSpPr txBox="1"/>
          <p:nvPr/>
        </p:nvSpPr>
        <p:spPr>
          <a:xfrm>
            <a:off x="1508760" y="2084069"/>
            <a:ext cx="2514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Why SLT-Eval</a:t>
            </a:r>
          </a:p>
        </p:txBody>
      </p:sp>
      <p:sp>
        <p:nvSpPr>
          <p:cNvPr id="36" name="Text 9"/>
          <p:cNvSpPr txBox="1"/>
          <p:nvPr/>
        </p:nvSpPr>
        <p:spPr>
          <a:xfrm>
            <a:off x="731519" y="2730676"/>
            <a:ext cx="324612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Why SLT-Eval; positioning within LTRC 2.0 and Global Standard for Indic AI</a:t>
            </a:r>
          </a:p>
        </p:txBody>
      </p:sp>
      <p:sp>
        <p:nvSpPr>
          <p:cNvPr id="37" name="Shape 10"/>
          <p:cNvSpPr/>
          <p:nvPr/>
        </p:nvSpPr>
        <p:spPr>
          <a:xfrm>
            <a:off x="4325111" y="1874520"/>
            <a:ext cx="91441" cy="1417321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hape 11"/>
          <p:cNvSpPr/>
          <p:nvPr/>
        </p:nvSpPr>
        <p:spPr>
          <a:xfrm>
            <a:off x="4416552" y="1874520"/>
            <a:ext cx="3611881" cy="1417321"/>
          </a:xfrm>
          <a:prstGeom prst="rect">
            <a:avLst/>
          </a:prstGeom>
          <a:solidFill>
            <a:srgbClr val="EEF2F7"/>
          </a:solidFill>
          <a:ln w="6350">
            <a:solidFill>
              <a:srgbClr val="D0DC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12"/>
          <p:cNvSpPr txBox="1"/>
          <p:nvPr/>
        </p:nvSpPr>
        <p:spPr>
          <a:xfrm>
            <a:off x="4553711" y="1991360"/>
            <a:ext cx="9144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0" name="Text 13"/>
          <p:cNvSpPr txBox="1"/>
          <p:nvPr/>
        </p:nvSpPr>
        <p:spPr>
          <a:xfrm>
            <a:off x="5376671" y="2084069"/>
            <a:ext cx="2514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Workshop Goals</a:t>
            </a:r>
          </a:p>
        </p:txBody>
      </p:sp>
      <p:sp>
        <p:nvSpPr>
          <p:cNvPr id="41" name="Text 14"/>
          <p:cNvSpPr txBox="1"/>
          <p:nvPr/>
        </p:nvSpPr>
        <p:spPr>
          <a:xfrm>
            <a:off x="4599432" y="2730676"/>
            <a:ext cx="324612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What the workshop sets out to standardise for Indian speech and language tech</a:t>
            </a:r>
          </a:p>
        </p:txBody>
      </p:sp>
      <p:sp>
        <p:nvSpPr>
          <p:cNvPr id="42" name="Shape 15"/>
          <p:cNvSpPr/>
          <p:nvPr/>
        </p:nvSpPr>
        <p:spPr>
          <a:xfrm>
            <a:off x="8193023" y="1874520"/>
            <a:ext cx="91441" cy="1417321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Shape 16"/>
          <p:cNvSpPr/>
          <p:nvPr/>
        </p:nvSpPr>
        <p:spPr>
          <a:xfrm>
            <a:off x="8284464" y="1874520"/>
            <a:ext cx="3611881" cy="1417321"/>
          </a:xfrm>
          <a:prstGeom prst="rect">
            <a:avLst/>
          </a:prstGeom>
          <a:solidFill>
            <a:srgbClr val="EEF2F7"/>
          </a:solidFill>
          <a:ln w="6350">
            <a:solidFill>
              <a:srgbClr val="D0DC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17"/>
          <p:cNvSpPr txBox="1"/>
          <p:nvPr/>
        </p:nvSpPr>
        <p:spPr>
          <a:xfrm>
            <a:off x="8421623" y="1991360"/>
            <a:ext cx="9144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5" name="Text 18"/>
          <p:cNvSpPr txBox="1"/>
          <p:nvPr/>
        </p:nvSpPr>
        <p:spPr>
          <a:xfrm>
            <a:off x="9244583" y="2084069"/>
            <a:ext cx="2514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Call for Papers</a:t>
            </a:r>
          </a:p>
        </p:txBody>
      </p:sp>
      <p:sp>
        <p:nvSpPr>
          <p:cNvPr id="46" name="Text 19"/>
          <p:cNvSpPr txBox="1"/>
          <p:nvPr/>
        </p:nvSpPr>
        <p:spPr>
          <a:xfrm>
            <a:off x="8467343" y="2813226"/>
            <a:ext cx="32461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Scope, tracks, evaluation themes, submission window</a:t>
            </a:r>
          </a:p>
        </p:txBody>
      </p:sp>
      <p:sp>
        <p:nvSpPr>
          <p:cNvPr id="47" name="Shape 20"/>
          <p:cNvSpPr/>
          <p:nvPr/>
        </p:nvSpPr>
        <p:spPr>
          <a:xfrm>
            <a:off x="457200" y="3493008"/>
            <a:ext cx="91441" cy="1417321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Shape 21"/>
          <p:cNvSpPr/>
          <p:nvPr/>
        </p:nvSpPr>
        <p:spPr>
          <a:xfrm>
            <a:off x="548640" y="3493008"/>
            <a:ext cx="3611880" cy="1417321"/>
          </a:xfrm>
          <a:prstGeom prst="rect">
            <a:avLst/>
          </a:prstGeom>
          <a:solidFill>
            <a:srgbClr val="EEF2F7"/>
          </a:solidFill>
          <a:ln w="6350">
            <a:solidFill>
              <a:srgbClr val="D0DC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22"/>
          <p:cNvSpPr txBox="1"/>
          <p:nvPr/>
        </p:nvSpPr>
        <p:spPr>
          <a:xfrm>
            <a:off x="685800" y="3609847"/>
            <a:ext cx="9144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0" name="Text 23"/>
          <p:cNvSpPr txBox="1"/>
          <p:nvPr/>
        </p:nvSpPr>
        <p:spPr>
          <a:xfrm>
            <a:off x="1508760" y="3702558"/>
            <a:ext cx="2514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Shared Tasks</a:t>
            </a:r>
          </a:p>
        </p:txBody>
      </p:sp>
      <p:sp>
        <p:nvSpPr>
          <p:cNvPr id="51" name="Text 24"/>
          <p:cNvSpPr txBox="1"/>
          <p:nvPr/>
        </p:nvSpPr>
        <p:spPr>
          <a:xfrm>
            <a:off x="731519" y="4431713"/>
            <a:ext cx="324612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Speech, Language and Data challenges planned so far</a:t>
            </a:r>
          </a:p>
        </p:txBody>
      </p:sp>
      <p:sp>
        <p:nvSpPr>
          <p:cNvPr id="52" name="Shape 25"/>
          <p:cNvSpPr/>
          <p:nvPr/>
        </p:nvSpPr>
        <p:spPr>
          <a:xfrm>
            <a:off x="4325111" y="3493008"/>
            <a:ext cx="91441" cy="1417321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26"/>
          <p:cNvSpPr/>
          <p:nvPr/>
        </p:nvSpPr>
        <p:spPr>
          <a:xfrm>
            <a:off x="4416552" y="3493008"/>
            <a:ext cx="3611881" cy="1417321"/>
          </a:xfrm>
          <a:prstGeom prst="rect">
            <a:avLst/>
          </a:prstGeom>
          <a:solidFill>
            <a:srgbClr val="EEF2F7"/>
          </a:solidFill>
          <a:ln w="6350">
            <a:solidFill>
              <a:srgbClr val="D0DC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27"/>
          <p:cNvSpPr txBox="1"/>
          <p:nvPr/>
        </p:nvSpPr>
        <p:spPr>
          <a:xfrm>
            <a:off x="4553711" y="3609847"/>
            <a:ext cx="9144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55" name="Text 28"/>
          <p:cNvSpPr txBox="1"/>
          <p:nvPr/>
        </p:nvSpPr>
        <p:spPr>
          <a:xfrm>
            <a:off x="5376671" y="3702558"/>
            <a:ext cx="2514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Host Body Trials</a:t>
            </a:r>
          </a:p>
        </p:txBody>
      </p:sp>
      <p:sp>
        <p:nvSpPr>
          <p:cNvPr id="56" name="Text 29"/>
          <p:cNvSpPr txBox="1"/>
          <p:nvPr/>
        </p:nvSpPr>
        <p:spPr>
          <a:xfrm>
            <a:off x="4599432" y="4431713"/>
            <a:ext cx="324612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IEEE SPS vs ISCA (status and tradeoffs)</a:t>
            </a:r>
          </a:p>
        </p:txBody>
      </p:sp>
      <p:sp>
        <p:nvSpPr>
          <p:cNvPr id="57" name="Shape 30"/>
          <p:cNvSpPr/>
          <p:nvPr/>
        </p:nvSpPr>
        <p:spPr>
          <a:xfrm>
            <a:off x="8193023" y="3493008"/>
            <a:ext cx="91441" cy="1417321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Shape 31"/>
          <p:cNvSpPr/>
          <p:nvPr/>
        </p:nvSpPr>
        <p:spPr>
          <a:xfrm>
            <a:off x="8284464" y="3493008"/>
            <a:ext cx="3611881" cy="1417321"/>
          </a:xfrm>
          <a:prstGeom prst="rect">
            <a:avLst/>
          </a:prstGeom>
          <a:solidFill>
            <a:srgbClr val="EEF2F7"/>
          </a:solidFill>
          <a:ln w="6350">
            <a:solidFill>
              <a:srgbClr val="D0DC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32"/>
          <p:cNvSpPr txBox="1"/>
          <p:nvPr/>
        </p:nvSpPr>
        <p:spPr>
          <a:xfrm>
            <a:off x="8421623" y="3609847"/>
            <a:ext cx="9144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60" name="Text 33"/>
          <p:cNvSpPr txBox="1"/>
          <p:nvPr/>
        </p:nvSpPr>
        <p:spPr>
          <a:xfrm>
            <a:off x="9244583" y="3702558"/>
            <a:ext cx="2514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Forward Plan</a:t>
            </a:r>
          </a:p>
        </p:txBody>
      </p:sp>
      <p:sp>
        <p:nvSpPr>
          <p:cNvPr id="61" name="Text 34"/>
          <p:cNvSpPr txBox="1"/>
          <p:nvPr/>
        </p:nvSpPr>
        <p:spPr>
          <a:xfrm>
            <a:off x="8467343" y="4431713"/>
            <a:ext cx="324612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Success criteria, immediate next steps, unresolved risks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 txBox="1"/>
          <p:nvPr/>
        </p:nvSpPr>
        <p:spPr>
          <a:xfrm>
            <a:off x="457200" y="299720"/>
            <a:ext cx="3657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SLT-Eval 2027</a:t>
            </a:r>
          </a:p>
        </p:txBody>
      </p:sp>
      <p:sp>
        <p:nvSpPr>
          <p:cNvPr id="64" name="Text 1"/>
          <p:cNvSpPr txBox="1"/>
          <p:nvPr/>
        </p:nvSpPr>
        <p:spPr>
          <a:xfrm>
            <a:off x="7315200" y="320084"/>
            <a:ext cx="4389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i="1" sz="1000">
                <a:solidFill>
                  <a:srgbClr val="5F6B7A"/>
                </a:solidFill>
              </a:defRPr>
            </a:lvl1pPr>
          </a:lstStyle>
          <a:p>
            <a:pPr/>
            <a:r>
              <a:t>LTRC 2.0  •  Global Standard for Indic AI</a:t>
            </a:r>
          </a:p>
        </p:txBody>
      </p:sp>
      <p:sp>
        <p:nvSpPr>
          <p:cNvPr id="65" name="Text 2"/>
          <p:cNvSpPr txBox="1"/>
          <p:nvPr/>
        </p:nvSpPr>
        <p:spPr>
          <a:xfrm>
            <a:off x="457200" y="6520180"/>
            <a:ext cx="5486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F6B7A"/>
                </a:solidFill>
              </a:defRPr>
            </a:lvl1pPr>
          </a:lstStyle>
          <a:p>
            <a:pPr/>
            <a:r>
              <a:t>LTRC, IIIT Hyderabad</a:t>
            </a:r>
          </a:p>
        </p:txBody>
      </p:sp>
      <p:sp>
        <p:nvSpPr>
          <p:cNvPr id="66" name="Text 3"/>
          <p:cNvSpPr txBox="1"/>
          <p:nvPr/>
        </p:nvSpPr>
        <p:spPr>
          <a:xfrm>
            <a:off x="457199" y="777239"/>
            <a:ext cx="112471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Why SLT-Eval</a:t>
            </a:r>
          </a:p>
        </p:txBody>
      </p:sp>
      <p:sp>
        <p:nvSpPr>
          <p:cNvPr id="67" name="Text 4"/>
          <p:cNvSpPr txBox="1"/>
          <p:nvPr/>
        </p:nvSpPr>
        <p:spPr>
          <a:xfrm>
            <a:off x="457199" y="1386648"/>
            <a:ext cx="112471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1C7293"/>
                </a:solidFill>
              </a:defRPr>
            </a:lvl1pPr>
          </a:lstStyle>
          <a:p>
            <a:pPr/>
            <a:r>
              <a:t>The evaluation gap that holds Indic AI back</a:t>
            </a:r>
          </a:p>
        </p:txBody>
      </p:sp>
      <p:sp>
        <p:nvSpPr>
          <p:cNvPr id="68" name="Shape 5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6"/>
          <p:cNvSpPr txBox="1"/>
          <p:nvPr/>
        </p:nvSpPr>
        <p:spPr>
          <a:xfrm>
            <a:off x="640080" y="2081529"/>
            <a:ext cx="521208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3315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70" name="Text 7"/>
          <p:cNvSpPr txBox="1"/>
          <p:nvPr/>
        </p:nvSpPr>
        <p:spPr>
          <a:xfrm>
            <a:off x="685799" y="2606039"/>
            <a:ext cx="5120642" cy="1970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■"/>
              <a:defRPr sz="1300">
                <a:solidFill>
                  <a:srgbClr val="1A1A1A"/>
                </a:solidFill>
              </a:defRPr>
            </a:pPr>
            <a:r>
              <a:t>Indian ASR, TTS, MT, LLMs and S2S systems are each measured on their own test sets, with their own metrics, in their own format</a:t>
            </a:r>
          </a:p>
          <a:p>
            <a:pPr marL="342900" indent="-342900">
              <a:spcBef>
                <a:spcPts val="1000"/>
              </a:spcBef>
              <a:buSzPct val="100000"/>
              <a:buChar char="■"/>
              <a:defRPr sz="1300">
                <a:solidFill>
                  <a:srgbClr val="1A1A1A"/>
                </a:solidFill>
              </a:defRPr>
            </a:pPr>
            <a:r>
              <a:t>LibriSpeech, FLORES, CommonVoice were never built for code-switching, script diversity, dialectal variation or noisy mobile-first audio</a:t>
            </a:r>
          </a:p>
          <a:p>
            <a:pPr marL="342900" indent="-342900">
              <a:spcBef>
                <a:spcPts val="1000"/>
              </a:spcBef>
              <a:buSzPct val="100000"/>
              <a:buChar char="■"/>
              <a:defRPr sz="1300">
                <a:solidFill>
                  <a:srgbClr val="1A1A1A"/>
                </a:solidFill>
              </a:defRPr>
            </a:pPr>
            <a:r>
              <a:t>Progress in Indic speech and language looks slower than it actually is, because there is no common ground to demonstrate it on</a:t>
            </a:r>
          </a:p>
          <a:p>
            <a:pPr marL="342900" indent="-342900">
              <a:spcBef>
                <a:spcPts val="1000"/>
              </a:spcBef>
              <a:buSzPct val="100000"/>
              <a:buChar char="■"/>
              <a:defRPr sz="1300">
                <a:solidFill>
                  <a:srgbClr val="1A1A1A"/>
                </a:solidFill>
              </a:defRPr>
            </a:pPr>
            <a:r>
              <a:t>WER, BLEU and MOS have become proxy optimisation targets instead of measures of real-world usability</a:t>
            </a:r>
          </a:p>
        </p:txBody>
      </p:sp>
      <p:sp>
        <p:nvSpPr>
          <p:cNvPr id="71" name="Shape 8"/>
          <p:cNvSpPr/>
          <p:nvPr/>
        </p:nvSpPr>
        <p:spPr>
          <a:xfrm>
            <a:off x="6217920" y="1828800"/>
            <a:ext cx="5486401" cy="4297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9"/>
          <p:cNvSpPr txBox="1"/>
          <p:nvPr/>
        </p:nvSpPr>
        <p:spPr>
          <a:xfrm>
            <a:off x="6400800" y="2081529"/>
            <a:ext cx="521208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SLT-Eval's Response</a:t>
            </a:r>
          </a:p>
        </p:txBody>
      </p:sp>
      <p:sp>
        <p:nvSpPr>
          <p:cNvPr id="73" name="Text 10"/>
          <p:cNvSpPr txBox="1"/>
          <p:nvPr/>
        </p:nvSpPr>
        <p:spPr>
          <a:xfrm>
            <a:off x="6446520" y="2606039"/>
            <a:ext cx="5120641" cy="1970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■"/>
              <a:defRPr sz="1300">
                <a:solidFill>
                  <a:srgbClr val="EAF1FA"/>
                </a:solidFill>
              </a:defRPr>
            </a:pPr>
            <a:r>
              <a:t>One umbrella covering ASR, TTS, MT, S2S, Spoken QA, Speech LLMs and rich-data tracks under a single evaluation workshop</a:t>
            </a:r>
          </a:p>
          <a:p>
            <a:pPr marL="342900" indent="-342900">
              <a:spcBef>
                <a:spcPts val="1000"/>
              </a:spcBef>
              <a:buSzPct val="100000"/>
              <a:buChar char="■"/>
              <a:defRPr sz="1300">
                <a:solidFill>
                  <a:srgbClr val="EAF1FA"/>
                </a:solidFill>
              </a:defRPr>
            </a:pPr>
            <a:r>
              <a:t>Benchmarks designed ground-up for Indian conditions (code-switching, script diversity, dialectal variation, noisy audio, etc.)</a:t>
            </a:r>
          </a:p>
          <a:p>
            <a:pPr marL="342900" indent="-342900">
              <a:spcBef>
                <a:spcPts val="1000"/>
              </a:spcBef>
              <a:buSzPct val="100000"/>
              <a:buChar char="■"/>
              <a:defRPr sz="1300">
                <a:solidFill>
                  <a:srgbClr val="EAF1FA"/>
                </a:solidFill>
              </a:defRPr>
            </a:pPr>
            <a:r>
              <a:t>New evaluation measures that go beyond WER, BLEU and MOS, with statistical rigour and reference-free options</a:t>
            </a:r>
          </a:p>
          <a:p>
            <a:pPr marL="342900" indent="-342900">
              <a:spcBef>
                <a:spcPts val="1000"/>
              </a:spcBef>
              <a:buSzPct val="100000"/>
              <a:buChar char="■"/>
              <a:defRPr sz="1300">
                <a:solidFill>
                  <a:srgbClr val="EAF1FA"/>
                </a:solidFill>
              </a:defRPr>
            </a:pPr>
            <a:r>
              <a:t>Coverage that extends to all low-resource and underserved Indian languages, not only the top five or ten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 txBox="1"/>
          <p:nvPr/>
        </p:nvSpPr>
        <p:spPr>
          <a:xfrm>
            <a:off x="457200" y="299720"/>
            <a:ext cx="3657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SLT-Eval 2027</a:t>
            </a:r>
          </a:p>
        </p:txBody>
      </p:sp>
      <p:sp>
        <p:nvSpPr>
          <p:cNvPr id="76" name="Text 1"/>
          <p:cNvSpPr txBox="1"/>
          <p:nvPr/>
        </p:nvSpPr>
        <p:spPr>
          <a:xfrm>
            <a:off x="7315200" y="320084"/>
            <a:ext cx="4389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i="1" sz="1000">
                <a:solidFill>
                  <a:srgbClr val="5F6B7A"/>
                </a:solidFill>
              </a:defRPr>
            </a:lvl1pPr>
          </a:lstStyle>
          <a:p>
            <a:pPr/>
            <a:r>
              <a:t>LTRC 2.0  •  Global Standard for Indic AI</a:t>
            </a:r>
          </a:p>
        </p:txBody>
      </p:sp>
      <p:sp>
        <p:nvSpPr>
          <p:cNvPr id="77" name="Text 2"/>
          <p:cNvSpPr txBox="1"/>
          <p:nvPr/>
        </p:nvSpPr>
        <p:spPr>
          <a:xfrm>
            <a:off x="457200" y="6520180"/>
            <a:ext cx="5486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F6B7A"/>
                </a:solidFill>
              </a:defRPr>
            </a:lvl1pPr>
          </a:lstStyle>
          <a:p>
            <a:pPr/>
            <a:r>
              <a:t>LTRC, IIIT Hyderabad</a:t>
            </a:r>
          </a:p>
        </p:txBody>
      </p:sp>
      <p:sp>
        <p:nvSpPr>
          <p:cNvPr id="78" name="Text 3"/>
          <p:cNvSpPr txBox="1"/>
          <p:nvPr/>
        </p:nvSpPr>
        <p:spPr>
          <a:xfrm>
            <a:off x="457199" y="777239"/>
            <a:ext cx="112471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Positioning in LTRC 2.0</a:t>
            </a:r>
          </a:p>
        </p:txBody>
      </p:sp>
      <p:sp>
        <p:nvSpPr>
          <p:cNvPr id="79" name="Text 4"/>
          <p:cNvSpPr txBox="1"/>
          <p:nvPr/>
        </p:nvSpPr>
        <p:spPr>
          <a:xfrm>
            <a:off x="457199" y="1386648"/>
            <a:ext cx="112471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1C7293"/>
                </a:solidFill>
              </a:defRPr>
            </a:lvl1pPr>
          </a:lstStyle>
          <a:p>
            <a:pPr/>
            <a:r>
              <a:t>Where SLT-Eval sits in the Global Standard for Indic AI initiative</a:t>
            </a:r>
          </a:p>
        </p:txBody>
      </p:sp>
      <p:sp>
        <p:nvSpPr>
          <p:cNvPr id="80" name="Shape 5"/>
          <p:cNvSpPr/>
          <p:nvPr/>
        </p:nvSpPr>
        <p:spPr>
          <a:xfrm>
            <a:off x="594359" y="2194560"/>
            <a:ext cx="3657601" cy="329184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Shape 6"/>
          <p:cNvSpPr/>
          <p:nvPr/>
        </p:nvSpPr>
        <p:spPr>
          <a:xfrm>
            <a:off x="594359" y="2194560"/>
            <a:ext cx="3657601" cy="10972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7"/>
          <p:cNvSpPr txBox="1"/>
          <p:nvPr/>
        </p:nvSpPr>
        <p:spPr>
          <a:xfrm>
            <a:off x="868680" y="2619047"/>
            <a:ext cx="31089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200">
                <a:solidFill>
                  <a:srgbClr val="1C7293"/>
                </a:solidFill>
              </a:defRPr>
            </a:lvl1pPr>
          </a:lstStyle>
          <a:p>
            <a:pPr/>
            <a:r>
              <a:t>BUILD</a:t>
            </a:r>
          </a:p>
        </p:txBody>
      </p:sp>
      <p:sp>
        <p:nvSpPr>
          <p:cNvPr id="83" name="Text 8"/>
          <p:cNvSpPr txBox="1"/>
          <p:nvPr/>
        </p:nvSpPr>
        <p:spPr>
          <a:xfrm>
            <a:off x="868680" y="3065779"/>
            <a:ext cx="310896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Indic Foundation Models</a:t>
            </a:r>
          </a:p>
        </p:txBody>
      </p:sp>
      <p:sp>
        <p:nvSpPr>
          <p:cNvPr id="84" name="Text 9"/>
          <p:cNvSpPr txBox="1"/>
          <p:nvPr/>
        </p:nvSpPr>
        <p:spPr>
          <a:xfrm>
            <a:off x="868680" y="4376859"/>
            <a:ext cx="3108961" cy="57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Speech and language models built by LTRC and the wider research community across ASR, TTS, MT, LLMs and Speech LLMs</a:t>
            </a:r>
          </a:p>
        </p:txBody>
      </p:sp>
      <p:sp>
        <p:nvSpPr>
          <p:cNvPr id="85" name="Shape 10"/>
          <p:cNvSpPr/>
          <p:nvPr/>
        </p:nvSpPr>
        <p:spPr>
          <a:xfrm>
            <a:off x="4526279" y="2194560"/>
            <a:ext cx="3657601" cy="3291841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11"/>
          <p:cNvSpPr/>
          <p:nvPr/>
        </p:nvSpPr>
        <p:spPr>
          <a:xfrm>
            <a:off x="4526279" y="2194560"/>
            <a:ext cx="3657601" cy="10972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12"/>
          <p:cNvSpPr txBox="1"/>
          <p:nvPr/>
        </p:nvSpPr>
        <p:spPr>
          <a:xfrm>
            <a:off x="4800600" y="2619047"/>
            <a:ext cx="31089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200">
                <a:solidFill>
                  <a:srgbClr val="D4A017"/>
                </a:solidFill>
              </a:defRPr>
            </a:lvl1pPr>
          </a:lstStyle>
          <a:p>
            <a:pPr/>
            <a:r>
              <a:t>MEASURE</a:t>
            </a:r>
          </a:p>
        </p:txBody>
      </p:sp>
      <p:sp>
        <p:nvSpPr>
          <p:cNvPr id="88" name="Text 13"/>
          <p:cNvSpPr txBox="1"/>
          <p:nvPr/>
        </p:nvSpPr>
        <p:spPr>
          <a:xfrm>
            <a:off x="4800600" y="3224529"/>
            <a:ext cx="310896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SLT-Eval</a:t>
            </a:r>
          </a:p>
        </p:txBody>
      </p:sp>
      <p:sp>
        <p:nvSpPr>
          <p:cNvPr id="89" name="Text 14"/>
          <p:cNvSpPr txBox="1"/>
          <p:nvPr/>
        </p:nvSpPr>
        <p:spPr>
          <a:xfrm>
            <a:off x="4800600" y="4376859"/>
            <a:ext cx="3108961" cy="57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EAF1FA"/>
                </a:solidFill>
              </a:defRPr>
            </a:lvl1pPr>
          </a:lstStyle>
          <a:p>
            <a:pPr/>
            <a:r>
              <a:t>Standardised, linguistically grounded evaluation across modalities (benchmarks, metrics, leaderboards, shared tasks)</a:t>
            </a:r>
          </a:p>
        </p:txBody>
      </p:sp>
      <p:sp>
        <p:nvSpPr>
          <p:cNvPr id="90" name="Shape 15"/>
          <p:cNvSpPr/>
          <p:nvPr/>
        </p:nvSpPr>
        <p:spPr>
          <a:xfrm>
            <a:off x="8458200" y="2194560"/>
            <a:ext cx="3657600" cy="329184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16"/>
          <p:cNvSpPr/>
          <p:nvPr/>
        </p:nvSpPr>
        <p:spPr>
          <a:xfrm>
            <a:off x="8458200" y="2194560"/>
            <a:ext cx="3657600" cy="10972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17"/>
          <p:cNvSpPr txBox="1"/>
          <p:nvPr/>
        </p:nvSpPr>
        <p:spPr>
          <a:xfrm>
            <a:off x="8732519" y="2619047"/>
            <a:ext cx="31089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200">
                <a:solidFill>
                  <a:srgbClr val="1C7293"/>
                </a:solidFill>
              </a:defRPr>
            </a:lvl1pPr>
          </a:lstStyle>
          <a:p>
            <a:pPr/>
            <a:r>
              <a:t>DEPLOY</a:t>
            </a:r>
          </a:p>
        </p:txBody>
      </p:sp>
      <p:sp>
        <p:nvSpPr>
          <p:cNvPr id="93" name="Text 18"/>
          <p:cNvSpPr txBox="1"/>
          <p:nvPr/>
        </p:nvSpPr>
        <p:spPr>
          <a:xfrm>
            <a:off x="8732519" y="3065779"/>
            <a:ext cx="310896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Downstream Usecases</a:t>
            </a:r>
          </a:p>
        </p:txBody>
      </p:sp>
      <p:sp>
        <p:nvSpPr>
          <p:cNvPr id="94" name="Text 19"/>
          <p:cNvSpPr txBox="1"/>
          <p:nvPr/>
        </p:nvSpPr>
        <p:spPr>
          <a:xfrm>
            <a:off x="8732519" y="4376859"/>
            <a:ext cx="3108961" cy="57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Real-world deployment of Indic ASR, TTS and MT into education, healthcare, governance and accessibility with robust benchmarks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 txBox="1"/>
          <p:nvPr/>
        </p:nvSpPr>
        <p:spPr>
          <a:xfrm>
            <a:off x="457200" y="299720"/>
            <a:ext cx="3657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SLT-Eval 2027</a:t>
            </a:r>
          </a:p>
        </p:txBody>
      </p:sp>
      <p:sp>
        <p:nvSpPr>
          <p:cNvPr id="97" name="Text 1"/>
          <p:cNvSpPr txBox="1"/>
          <p:nvPr/>
        </p:nvSpPr>
        <p:spPr>
          <a:xfrm>
            <a:off x="7315200" y="320084"/>
            <a:ext cx="4389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i="1" sz="1000">
                <a:solidFill>
                  <a:srgbClr val="5F6B7A"/>
                </a:solidFill>
              </a:defRPr>
            </a:lvl1pPr>
          </a:lstStyle>
          <a:p>
            <a:pPr/>
            <a:r>
              <a:t>LTRC 2.0  •  Global Standard for Indic AI</a:t>
            </a:r>
          </a:p>
        </p:txBody>
      </p:sp>
      <p:sp>
        <p:nvSpPr>
          <p:cNvPr id="98" name="Text 2"/>
          <p:cNvSpPr txBox="1"/>
          <p:nvPr/>
        </p:nvSpPr>
        <p:spPr>
          <a:xfrm>
            <a:off x="457200" y="6520180"/>
            <a:ext cx="5486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F6B7A"/>
                </a:solidFill>
              </a:defRPr>
            </a:lvl1pPr>
          </a:lstStyle>
          <a:p>
            <a:pPr/>
            <a:r>
              <a:t>LTRC, IIIT Hyderabad</a:t>
            </a:r>
          </a:p>
        </p:txBody>
      </p:sp>
      <p:sp>
        <p:nvSpPr>
          <p:cNvPr id="99" name="Text 3"/>
          <p:cNvSpPr txBox="1"/>
          <p:nvPr/>
        </p:nvSpPr>
        <p:spPr>
          <a:xfrm>
            <a:off x="457199" y="777239"/>
            <a:ext cx="112471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Workshop Goals</a:t>
            </a:r>
          </a:p>
        </p:txBody>
      </p:sp>
      <p:sp>
        <p:nvSpPr>
          <p:cNvPr id="100" name="Text 4"/>
          <p:cNvSpPr txBox="1"/>
          <p:nvPr/>
        </p:nvSpPr>
        <p:spPr>
          <a:xfrm>
            <a:off x="457199" y="1386648"/>
            <a:ext cx="112471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1C7293"/>
                </a:solidFill>
              </a:defRPr>
            </a:lvl1pPr>
          </a:lstStyle>
          <a:p>
            <a:pPr/>
            <a:r>
              <a:t>What SLT-Eval 2027 sets out to standardise</a:t>
            </a:r>
          </a:p>
        </p:txBody>
      </p:sp>
      <p:sp>
        <p:nvSpPr>
          <p:cNvPr id="101" name="Shape 5"/>
          <p:cNvSpPr/>
          <p:nvPr/>
        </p:nvSpPr>
        <p:spPr>
          <a:xfrm>
            <a:off x="457199" y="1828800"/>
            <a:ext cx="5532122" cy="1280161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Shape 6"/>
          <p:cNvSpPr/>
          <p:nvPr/>
        </p:nvSpPr>
        <p:spPr>
          <a:xfrm>
            <a:off x="640080" y="2057400"/>
            <a:ext cx="777241" cy="777241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7"/>
          <p:cNvSpPr txBox="1"/>
          <p:nvPr/>
        </p:nvSpPr>
        <p:spPr>
          <a:xfrm>
            <a:off x="640080" y="2308097"/>
            <a:ext cx="7772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04" name="Text 8"/>
          <p:cNvSpPr txBox="1"/>
          <p:nvPr/>
        </p:nvSpPr>
        <p:spPr>
          <a:xfrm>
            <a:off x="1554480" y="2028189"/>
            <a:ext cx="425196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Robust Benchmarks</a:t>
            </a:r>
          </a:p>
        </p:txBody>
      </p:sp>
      <p:sp>
        <p:nvSpPr>
          <p:cNvPr id="105" name="Text 9"/>
          <p:cNvSpPr txBox="1"/>
          <p:nvPr/>
        </p:nvSpPr>
        <p:spPr>
          <a:xfrm>
            <a:off x="1554480" y="2538652"/>
            <a:ext cx="425196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Comprehensive benchmarks covering ASR, TTS, MT, Indic LLMs, Speech LLMs, S2S and Spoken QA across various dimensions.</a:t>
            </a:r>
          </a:p>
        </p:txBody>
      </p:sp>
      <p:sp>
        <p:nvSpPr>
          <p:cNvPr id="106" name="Shape 10"/>
          <p:cNvSpPr/>
          <p:nvPr/>
        </p:nvSpPr>
        <p:spPr>
          <a:xfrm>
            <a:off x="6172200" y="1828800"/>
            <a:ext cx="5532121" cy="1280161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Shape 11"/>
          <p:cNvSpPr/>
          <p:nvPr/>
        </p:nvSpPr>
        <p:spPr>
          <a:xfrm>
            <a:off x="6355079" y="2057400"/>
            <a:ext cx="777241" cy="777241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12"/>
          <p:cNvSpPr txBox="1"/>
          <p:nvPr/>
        </p:nvSpPr>
        <p:spPr>
          <a:xfrm>
            <a:off x="6355079" y="2308097"/>
            <a:ext cx="7772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09" name="Text 13"/>
          <p:cNvSpPr txBox="1"/>
          <p:nvPr/>
        </p:nvSpPr>
        <p:spPr>
          <a:xfrm>
            <a:off x="7269480" y="2028189"/>
            <a:ext cx="42519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Novel Evaluation Metrics</a:t>
            </a:r>
          </a:p>
        </p:txBody>
      </p:sp>
      <p:sp>
        <p:nvSpPr>
          <p:cNvPr id="110" name="Text 14"/>
          <p:cNvSpPr txBox="1"/>
          <p:nvPr/>
        </p:nvSpPr>
        <p:spPr>
          <a:xfrm>
            <a:off x="7269480" y="2538652"/>
            <a:ext cx="425196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Metrics for TTS, ASR and S2S that go beyond WER, BLEU and MOS Measures that capture intent, prosody and Indic morphological richness.</a:t>
            </a:r>
          </a:p>
        </p:txBody>
      </p:sp>
      <p:sp>
        <p:nvSpPr>
          <p:cNvPr id="111" name="Shape 15"/>
          <p:cNvSpPr/>
          <p:nvPr/>
        </p:nvSpPr>
        <p:spPr>
          <a:xfrm>
            <a:off x="457199" y="3246120"/>
            <a:ext cx="5532122" cy="1280161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Shape 16"/>
          <p:cNvSpPr/>
          <p:nvPr/>
        </p:nvSpPr>
        <p:spPr>
          <a:xfrm>
            <a:off x="640080" y="3474720"/>
            <a:ext cx="777241" cy="777241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17"/>
          <p:cNvSpPr txBox="1"/>
          <p:nvPr/>
        </p:nvSpPr>
        <p:spPr>
          <a:xfrm>
            <a:off x="640080" y="3725418"/>
            <a:ext cx="7772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14" name="Text 18"/>
          <p:cNvSpPr txBox="1"/>
          <p:nvPr/>
        </p:nvSpPr>
        <p:spPr>
          <a:xfrm>
            <a:off x="1554480" y="3445509"/>
            <a:ext cx="425196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Ground-Up Indic Design</a:t>
            </a:r>
          </a:p>
        </p:txBody>
      </p:sp>
      <p:sp>
        <p:nvSpPr>
          <p:cNvPr id="115" name="Text 19"/>
          <p:cNvSpPr txBox="1"/>
          <p:nvPr/>
        </p:nvSpPr>
        <p:spPr>
          <a:xfrm>
            <a:off x="1554480" y="3955972"/>
            <a:ext cx="425196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Benchmarks built for code-switching, dialectal variation, script diversity, schwa deletion and noisy real-world audio, not retrofitted from English.</a:t>
            </a:r>
          </a:p>
        </p:txBody>
      </p:sp>
      <p:sp>
        <p:nvSpPr>
          <p:cNvPr id="116" name="Shape 20"/>
          <p:cNvSpPr/>
          <p:nvPr/>
        </p:nvSpPr>
        <p:spPr>
          <a:xfrm>
            <a:off x="6172200" y="3246120"/>
            <a:ext cx="5532121" cy="1280161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Shape 21"/>
          <p:cNvSpPr/>
          <p:nvPr/>
        </p:nvSpPr>
        <p:spPr>
          <a:xfrm>
            <a:off x="6355079" y="3474720"/>
            <a:ext cx="777241" cy="777241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22"/>
          <p:cNvSpPr txBox="1"/>
          <p:nvPr/>
        </p:nvSpPr>
        <p:spPr>
          <a:xfrm>
            <a:off x="6355079" y="3725418"/>
            <a:ext cx="7772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19" name="Text 23"/>
          <p:cNvSpPr txBox="1"/>
          <p:nvPr/>
        </p:nvSpPr>
        <p:spPr>
          <a:xfrm>
            <a:off x="7269480" y="3445509"/>
            <a:ext cx="42519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Low-Resource Coverage</a:t>
            </a:r>
          </a:p>
        </p:txBody>
      </p:sp>
      <p:sp>
        <p:nvSpPr>
          <p:cNvPr id="120" name="Text 24"/>
          <p:cNvSpPr txBox="1"/>
          <p:nvPr/>
        </p:nvSpPr>
        <p:spPr>
          <a:xfrm>
            <a:off x="7269480" y="3955972"/>
            <a:ext cx="425196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Evaluation infrastructure for languages beyond the top five or ten, including Dravidian and tribal-script languages.</a:t>
            </a:r>
          </a:p>
        </p:txBody>
      </p:sp>
      <p:sp>
        <p:nvSpPr>
          <p:cNvPr id="121" name="Shape 25"/>
          <p:cNvSpPr/>
          <p:nvPr/>
        </p:nvSpPr>
        <p:spPr>
          <a:xfrm>
            <a:off x="457199" y="4663440"/>
            <a:ext cx="5532122" cy="1280161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Shape 26"/>
          <p:cNvSpPr/>
          <p:nvPr/>
        </p:nvSpPr>
        <p:spPr>
          <a:xfrm>
            <a:off x="640080" y="4892040"/>
            <a:ext cx="777241" cy="777241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27"/>
          <p:cNvSpPr txBox="1"/>
          <p:nvPr/>
        </p:nvSpPr>
        <p:spPr>
          <a:xfrm>
            <a:off x="640080" y="5142738"/>
            <a:ext cx="7772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24" name="Text 28"/>
          <p:cNvSpPr txBox="1"/>
          <p:nvPr/>
        </p:nvSpPr>
        <p:spPr>
          <a:xfrm>
            <a:off x="1554480" y="4862829"/>
            <a:ext cx="425196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Reproducible Comparison</a:t>
            </a:r>
          </a:p>
        </p:txBody>
      </p:sp>
      <p:sp>
        <p:nvSpPr>
          <p:cNvPr id="125" name="Text 29"/>
          <p:cNvSpPr txBox="1"/>
          <p:nvPr/>
        </p:nvSpPr>
        <p:spPr>
          <a:xfrm>
            <a:off x="1554480" y="5373291"/>
            <a:ext cx="425196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A standardised, high-quality evaluation foundation that researchers, startups and labs can adopt as the common standard.</a:t>
            </a:r>
          </a:p>
        </p:txBody>
      </p:sp>
      <p:sp>
        <p:nvSpPr>
          <p:cNvPr id="126" name="Shape 30"/>
          <p:cNvSpPr/>
          <p:nvPr/>
        </p:nvSpPr>
        <p:spPr>
          <a:xfrm>
            <a:off x="6172200" y="4663440"/>
            <a:ext cx="5532121" cy="1280161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Shape 31"/>
          <p:cNvSpPr/>
          <p:nvPr/>
        </p:nvSpPr>
        <p:spPr>
          <a:xfrm>
            <a:off x="6355079" y="4892040"/>
            <a:ext cx="777241" cy="777241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32"/>
          <p:cNvSpPr txBox="1"/>
          <p:nvPr/>
        </p:nvSpPr>
        <p:spPr>
          <a:xfrm>
            <a:off x="6355079" y="5142738"/>
            <a:ext cx="7772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29" name="Text 33"/>
          <p:cNvSpPr txBox="1"/>
          <p:nvPr/>
        </p:nvSpPr>
        <p:spPr>
          <a:xfrm>
            <a:off x="7269480" y="4862829"/>
            <a:ext cx="42519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Evaluation as Research</a:t>
            </a:r>
          </a:p>
        </p:txBody>
      </p:sp>
      <p:sp>
        <p:nvSpPr>
          <p:cNvPr id="130" name="Text 34"/>
          <p:cNvSpPr txBox="1"/>
          <p:nvPr/>
        </p:nvSpPr>
        <p:spPr>
          <a:xfrm>
            <a:off x="7269480" y="5373291"/>
            <a:ext cx="425196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Reframe evaluation itself as a first-class research problem with statistical rigour, confidence intervals and reference-free metrics.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 txBox="1"/>
          <p:nvPr/>
        </p:nvSpPr>
        <p:spPr>
          <a:xfrm>
            <a:off x="457200" y="299720"/>
            <a:ext cx="3657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SLT-Eval 2027</a:t>
            </a:r>
          </a:p>
        </p:txBody>
      </p:sp>
      <p:sp>
        <p:nvSpPr>
          <p:cNvPr id="133" name="Text 1"/>
          <p:cNvSpPr txBox="1"/>
          <p:nvPr/>
        </p:nvSpPr>
        <p:spPr>
          <a:xfrm>
            <a:off x="7315200" y="320084"/>
            <a:ext cx="4389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i="1" sz="1000">
                <a:solidFill>
                  <a:srgbClr val="5F6B7A"/>
                </a:solidFill>
              </a:defRPr>
            </a:lvl1pPr>
          </a:lstStyle>
          <a:p>
            <a:pPr/>
            <a:r>
              <a:t>LTRC 2.0  •  Global Standard for Indic AI</a:t>
            </a:r>
          </a:p>
        </p:txBody>
      </p:sp>
      <p:sp>
        <p:nvSpPr>
          <p:cNvPr id="134" name="Text 2"/>
          <p:cNvSpPr txBox="1"/>
          <p:nvPr/>
        </p:nvSpPr>
        <p:spPr>
          <a:xfrm>
            <a:off x="457200" y="6520180"/>
            <a:ext cx="5486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F6B7A"/>
                </a:solidFill>
              </a:defRPr>
            </a:lvl1pPr>
          </a:lstStyle>
          <a:p>
            <a:pPr/>
            <a:r>
              <a:t>LTRC, IIIT Hyderabad</a:t>
            </a:r>
          </a:p>
        </p:txBody>
      </p:sp>
      <p:sp>
        <p:nvSpPr>
          <p:cNvPr id="135" name="Text 3"/>
          <p:cNvSpPr txBox="1"/>
          <p:nvPr/>
        </p:nvSpPr>
        <p:spPr>
          <a:xfrm>
            <a:off x="457199" y="777239"/>
            <a:ext cx="112471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Call for Papers</a:t>
            </a:r>
          </a:p>
        </p:txBody>
      </p:sp>
      <p:sp>
        <p:nvSpPr>
          <p:cNvPr id="136" name="Text 4"/>
          <p:cNvSpPr txBox="1"/>
          <p:nvPr/>
        </p:nvSpPr>
        <p:spPr>
          <a:xfrm>
            <a:off x="457199" y="1386648"/>
            <a:ext cx="112471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1C7293"/>
                </a:solidFill>
              </a:defRPr>
            </a:lvl1pPr>
          </a:lstStyle>
          <a:p>
            <a:pPr/>
            <a:r>
              <a:t>Topics span speech, language and multimodal evaluation</a:t>
            </a:r>
          </a:p>
        </p:txBody>
      </p:sp>
      <p:sp>
        <p:nvSpPr>
          <p:cNvPr id="137" name="Shape 5"/>
          <p:cNvSpPr/>
          <p:nvPr/>
        </p:nvSpPr>
        <p:spPr>
          <a:xfrm>
            <a:off x="457199" y="1828800"/>
            <a:ext cx="5532122" cy="4297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Shape 6"/>
          <p:cNvSpPr/>
          <p:nvPr/>
        </p:nvSpPr>
        <p:spPr>
          <a:xfrm>
            <a:off x="457199" y="1828800"/>
            <a:ext cx="5532122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7"/>
          <p:cNvSpPr txBox="1"/>
          <p:nvPr/>
        </p:nvSpPr>
        <p:spPr>
          <a:xfrm>
            <a:off x="640080" y="1996879"/>
            <a:ext cx="5029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D4A017"/>
                </a:solidFill>
              </a:defRPr>
            </a:lvl1pPr>
          </a:lstStyle>
          <a:p>
            <a:pPr/>
            <a:r>
              <a:t>SPEECH TRACKS</a:t>
            </a:r>
          </a:p>
        </p:txBody>
      </p:sp>
      <p:sp>
        <p:nvSpPr>
          <p:cNvPr id="140" name="Shape 8"/>
          <p:cNvSpPr/>
          <p:nvPr/>
        </p:nvSpPr>
        <p:spPr>
          <a:xfrm>
            <a:off x="777240" y="2606039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9"/>
          <p:cNvSpPr txBox="1"/>
          <p:nvPr/>
        </p:nvSpPr>
        <p:spPr>
          <a:xfrm>
            <a:off x="1051560" y="2596187"/>
            <a:ext cx="4754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Evaluation of ASR</a:t>
            </a:r>
          </a:p>
        </p:txBody>
      </p:sp>
      <p:sp>
        <p:nvSpPr>
          <p:cNvPr id="142" name="Shape 10"/>
          <p:cNvSpPr/>
          <p:nvPr/>
        </p:nvSpPr>
        <p:spPr>
          <a:xfrm>
            <a:off x="777240" y="2990088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11"/>
          <p:cNvSpPr txBox="1"/>
          <p:nvPr/>
        </p:nvSpPr>
        <p:spPr>
          <a:xfrm>
            <a:off x="1051560" y="2980235"/>
            <a:ext cx="4754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Evaluation of TTS</a:t>
            </a:r>
          </a:p>
        </p:txBody>
      </p:sp>
      <p:sp>
        <p:nvSpPr>
          <p:cNvPr id="144" name="Shape 12"/>
          <p:cNvSpPr/>
          <p:nvPr/>
        </p:nvSpPr>
        <p:spPr>
          <a:xfrm>
            <a:off x="777240" y="3374135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13"/>
          <p:cNvSpPr txBox="1"/>
          <p:nvPr/>
        </p:nvSpPr>
        <p:spPr>
          <a:xfrm>
            <a:off x="1051560" y="3364283"/>
            <a:ext cx="4754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Speech Translation evaluation</a:t>
            </a:r>
          </a:p>
        </p:txBody>
      </p:sp>
      <p:sp>
        <p:nvSpPr>
          <p:cNvPr id="146" name="Shape 14"/>
          <p:cNvSpPr/>
          <p:nvPr/>
        </p:nvSpPr>
        <p:spPr>
          <a:xfrm>
            <a:off x="777240" y="3758184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15"/>
          <p:cNvSpPr txBox="1"/>
          <p:nvPr/>
        </p:nvSpPr>
        <p:spPr>
          <a:xfrm>
            <a:off x="1051560" y="3748331"/>
            <a:ext cx="4754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Speech-to-Speech systems</a:t>
            </a:r>
          </a:p>
        </p:txBody>
      </p:sp>
      <p:sp>
        <p:nvSpPr>
          <p:cNvPr id="148" name="Shape 16"/>
          <p:cNvSpPr/>
          <p:nvPr/>
        </p:nvSpPr>
        <p:spPr>
          <a:xfrm>
            <a:off x="777240" y="4142232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17"/>
          <p:cNvSpPr txBox="1"/>
          <p:nvPr/>
        </p:nvSpPr>
        <p:spPr>
          <a:xfrm>
            <a:off x="1051560" y="4132379"/>
            <a:ext cx="4754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Speech LLM evaluation</a:t>
            </a:r>
          </a:p>
        </p:txBody>
      </p:sp>
      <p:sp>
        <p:nvSpPr>
          <p:cNvPr id="150" name="Shape 18"/>
          <p:cNvSpPr/>
          <p:nvPr/>
        </p:nvSpPr>
        <p:spPr>
          <a:xfrm>
            <a:off x="777240" y="4526279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19"/>
          <p:cNvSpPr txBox="1"/>
          <p:nvPr/>
        </p:nvSpPr>
        <p:spPr>
          <a:xfrm>
            <a:off x="1051560" y="4516427"/>
            <a:ext cx="4754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Expressive and prosodic speech</a:t>
            </a:r>
          </a:p>
        </p:txBody>
      </p:sp>
      <p:sp>
        <p:nvSpPr>
          <p:cNvPr id="152" name="Shape 20"/>
          <p:cNvSpPr/>
          <p:nvPr/>
        </p:nvSpPr>
        <p:spPr>
          <a:xfrm>
            <a:off x="777240" y="4910328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21"/>
          <p:cNvSpPr txBox="1"/>
          <p:nvPr/>
        </p:nvSpPr>
        <p:spPr>
          <a:xfrm>
            <a:off x="1051560" y="4900475"/>
            <a:ext cx="4754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Evaluation metrics beyond WER</a:t>
            </a:r>
          </a:p>
        </p:txBody>
      </p:sp>
      <p:sp>
        <p:nvSpPr>
          <p:cNvPr id="154" name="Shape 22"/>
          <p:cNvSpPr/>
          <p:nvPr/>
        </p:nvSpPr>
        <p:spPr>
          <a:xfrm>
            <a:off x="777240" y="5294376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23"/>
          <p:cNvSpPr txBox="1"/>
          <p:nvPr/>
        </p:nvSpPr>
        <p:spPr>
          <a:xfrm>
            <a:off x="1051560" y="5284523"/>
            <a:ext cx="4754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Bias and robustness in speech</a:t>
            </a:r>
          </a:p>
        </p:txBody>
      </p:sp>
      <p:sp>
        <p:nvSpPr>
          <p:cNvPr id="156" name="Shape 24"/>
          <p:cNvSpPr/>
          <p:nvPr/>
        </p:nvSpPr>
        <p:spPr>
          <a:xfrm>
            <a:off x="777240" y="5678423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25"/>
          <p:cNvSpPr txBox="1"/>
          <p:nvPr/>
        </p:nvSpPr>
        <p:spPr>
          <a:xfrm>
            <a:off x="1051560" y="5668571"/>
            <a:ext cx="4754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Spoken Language Cognition</a:t>
            </a:r>
          </a:p>
        </p:txBody>
      </p:sp>
      <p:sp>
        <p:nvSpPr>
          <p:cNvPr id="158" name="Shape 26"/>
          <p:cNvSpPr/>
          <p:nvPr/>
        </p:nvSpPr>
        <p:spPr>
          <a:xfrm>
            <a:off x="6172200" y="1828800"/>
            <a:ext cx="5532121" cy="4297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Shape 27"/>
          <p:cNvSpPr/>
          <p:nvPr/>
        </p:nvSpPr>
        <p:spPr>
          <a:xfrm>
            <a:off x="6172200" y="1828800"/>
            <a:ext cx="5532121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28"/>
          <p:cNvSpPr txBox="1"/>
          <p:nvPr/>
        </p:nvSpPr>
        <p:spPr>
          <a:xfrm>
            <a:off x="6355079" y="1996879"/>
            <a:ext cx="5029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FFFFFF"/>
                </a:solidFill>
              </a:defRPr>
            </a:lvl1pPr>
          </a:lstStyle>
          <a:p>
            <a:pPr/>
            <a:r>
              <a:t>LANGUAGE TRACKS</a:t>
            </a:r>
          </a:p>
        </p:txBody>
      </p:sp>
      <p:sp>
        <p:nvSpPr>
          <p:cNvPr id="161" name="Shape 29"/>
          <p:cNvSpPr/>
          <p:nvPr/>
        </p:nvSpPr>
        <p:spPr>
          <a:xfrm>
            <a:off x="6492240" y="2606039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30"/>
          <p:cNvSpPr txBox="1"/>
          <p:nvPr/>
        </p:nvSpPr>
        <p:spPr>
          <a:xfrm>
            <a:off x="6766559" y="2596187"/>
            <a:ext cx="47548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Evaluation of MT</a:t>
            </a:r>
          </a:p>
        </p:txBody>
      </p:sp>
      <p:sp>
        <p:nvSpPr>
          <p:cNvPr id="163" name="Shape 31"/>
          <p:cNvSpPr/>
          <p:nvPr/>
        </p:nvSpPr>
        <p:spPr>
          <a:xfrm>
            <a:off x="6492240" y="2990088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32"/>
          <p:cNvSpPr txBox="1"/>
          <p:nvPr/>
        </p:nvSpPr>
        <p:spPr>
          <a:xfrm>
            <a:off x="6766559" y="2980235"/>
            <a:ext cx="47548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Evaluation of NLG</a:t>
            </a:r>
          </a:p>
        </p:txBody>
      </p:sp>
      <p:sp>
        <p:nvSpPr>
          <p:cNvPr id="165" name="Shape 33"/>
          <p:cNvSpPr/>
          <p:nvPr/>
        </p:nvSpPr>
        <p:spPr>
          <a:xfrm>
            <a:off x="6492240" y="3374135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34"/>
          <p:cNvSpPr txBox="1"/>
          <p:nvPr/>
        </p:nvSpPr>
        <p:spPr>
          <a:xfrm>
            <a:off x="6766559" y="3364283"/>
            <a:ext cx="47548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Evaluation of LLMs</a:t>
            </a:r>
          </a:p>
        </p:txBody>
      </p:sp>
      <p:sp>
        <p:nvSpPr>
          <p:cNvPr id="167" name="Shape 35"/>
          <p:cNvSpPr/>
          <p:nvPr/>
        </p:nvSpPr>
        <p:spPr>
          <a:xfrm>
            <a:off x="6492240" y="3758184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36"/>
          <p:cNvSpPr txBox="1"/>
          <p:nvPr/>
        </p:nvSpPr>
        <p:spPr>
          <a:xfrm>
            <a:off x="6766559" y="3748331"/>
            <a:ext cx="47548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Question Answering evaluation</a:t>
            </a:r>
          </a:p>
        </p:txBody>
      </p:sp>
      <p:sp>
        <p:nvSpPr>
          <p:cNvPr id="169" name="Shape 37"/>
          <p:cNvSpPr/>
          <p:nvPr/>
        </p:nvSpPr>
        <p:spPr>
          <a:xfrm>
            <a:off x="6492240" y="4142232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38"/>
          <p:cNvSpPr txBox="1"/>
          <p:nvPr/>
        </p:nvSpPr>
        <p:spPr>
          <a:xfrm>
            <a:off x="6766559" y="4132379"/>
            <a:ext cx="47548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Summarization faithfulness</a:t>
            </a:r>
          </a:p>
        </p:txBody>
      </p:sp>
      <p:sp>
        <p:nvSpPr>
          <p:cNvPr id="171" name="Shape 39"/>
          <p:cNvSpPr/>
          <p:nvPr/>
        </p:nvSpPr>
        <p:spPr>
          <a:xfrm>
            <a:off x="6492240" y="4526279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40"/>
          <p:cNvSpPr txBox="1"/>
          <p:nvPr/>
        </p:nvSpPr>
        <p:spPr>
          <a:xfrm>
            <a:off x="6766559" y="4516427"/>
            <a:ext cx="47548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Dialogue and conversational systems</a:t>
            </a:r>
          </a:p>
        </p:txBody>
      </p:sp>
      <p:sp>
        <p:nvSpPr>
          <p:cNvPr id="173" name="Shape 41"/>
          <p:cNvSpPr/>
          <p:nvPr/>
        </p:nvSpPr>
        <p:spPr>
          <a:xfrm>
            <a:off x="6492240" y="4910328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42"/>
          <p:cNvSpPr txBox="1"/>
          <p:nvPr/>
        </p:nvSpPr>
        <p:spPr>
          <a:xfrm>
            <a:off x="6766559" y="4900475"/>
            <a:ext cx="47548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Cross-lingual and code-mixed</a:t>
            </a:r>
          </a:p>
        </p:txBody>
      </p:sp>
      <p:sp>
        <p:nvSpPr>
          <p:cNvPr id="175" name="Shape 43"/>
          <p:cNvSpPr/>
          <p:nvPr/>
        </p:nvSpPr>
        <p:spPr>
          <a:xfrm>
            <a:off x="6492240" y="5294376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44"/>
          <p:cNvSpPr txBox="1"/>
          <p:nvPr/>
        </p:nvSpPr>
        <p:spPr>
          <a:xfrm>
            <a:off x="6766559" y="5284523"/>
            <a:ext cx="47548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Multimodal (speech–text–vision)</a:t>
            </a:r>
          </a:p>
        </p:txBody>
      </p:sp>
      <p:sp>
        <p:nvSpPr>
          <p:cNvPr id="177" name="Shape 45"/>
          <p:cNvSpPr/>
          <p:nvPr/>
        </p:nvSpPr>
        <p:spPr>
          <a:xfrm>
            <a:off x="6492240" y="5678423"/>
            <a:ext cx="137161" cy="137161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46"/>
          <p:cNvSpPr txBox="1"/>
          <p:nvPr/>
        </p:nvSpPr>
        <p:spPr>
          <a:xfrm>
            <a:off x="6766559" y="5668571"/>
            <a:ext cx="47548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Hallucination detection and factual consistency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 txBox="1"/>
          <p:nvPr/>
        </p:nvSpPr>
        <p:spPr>
          <a:xfrm>
            <a:off x="457200" y="299720"/>
            <a:ext cx="3657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SLT-Eval 2027</a:t>
            </a:r>
          </a:p>
        </p:txBody>
      </p:sp>
      <p:sp>
        <p:nvSpPr>
          <p:cNvPr id="181" name="Text 1"/>
          <p:cNvSpPr txBox="1"/>
          <p:nvPr/>
        </p:nvSpPr>
        <p:spPr>
          <a:xfrm>
            <a:off x="7315200" y="320084"/>
            <a:ext cx="4389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i="1" sz="1000">
                <a:solidFill>
                  <a:srgbClr val="5F6B7A"/>
                </a:solidFill>
              </a:defRPr>
            </a:lvl1pPr>
          </a:lstStyle>
          <a:p>
            <a:pPr/>
            <a:r>
              <a:t>LTRC 2.0  •  Global Standard for Indic AI</a:t>
            </a:r>
          </a:p>
        </p:txBody>
      </p:sp>
      <p:sp>
        <p:nvSpPr>
          <p:cNvPr id="182" name="Text 2"/>
          <p:cNvSpPr txBox="1"/>
          <p:nvPr/>
        </p:nvSpPr>
        <p:spPr>
          <a:xfrm>
            <a:off x="457200" y="6520180"/>
            <a:ext cx="5486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F6B7A"/>
                </a:solidFill>
              </a:defRPr>
            </a:lvl1pPr>
          </a:lstStyle>
          <a:p>
            <a:pPr/>
            <a:r>
              <a:t>LTRC, IIIT Hyderabad</a:t>
            </a:r>
          </a:p>
        </p:txBody>
      </p:sp>
      <p:sp>
        <p:nvSpPr>
          <p:cNvPr id="183" name="Text 3"/>
          <p:cNvSpPr txBox="1"/>
          <p:nvPr/>
        </p:nvSpPr>
        <p:spPr>
          <a:xfrm>
            <a:off x="457199" y="777239"/>
            <a:ext cx="112471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Shared Tasks: Speech</a:t>
            </a:r>
          </a:p>
        </p:txBody>
      </p:sp>
      <p:sp>
        <p:nvSpPr>
          <p:cNvPr id="184" name="Text 4"/>
          <p:cNvSpPr txBox="1"/>
          <p:nvPr/>
        </p:nvSpPr>
        <p:spPr>
          <a:xfrm>
            <a:off x="457199" y="1386648"/>
            <a:ext cx="112471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1C7293"/>
                </a:solidFill>
              </a:defRPr>
            </a:lvl1pPr>
          </a:lstStyle>
          <a:p>
            <a:pPr/>
            <a:r>
              <a:t>Twenty challenges across ASR, TTS, S2S, Spoken QA, Speech LLMs and Data</a:t>
            </a:r>
          </a:p>
        </p:txBody>
      </p:sp>
      <p:sp>
        <p:nvSpPr>
          <p:cNvPr id="185" name="Shape 5"/>
          <p:cNvSpPr/>
          <p:nvPr/>
        </p:nvSpPr>
        <p:spPr>
          <a:xfrm>
            <a:off x="457199" y="1828800"/>
            <a:ext cx="3703322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Shape 6"/>
          <p:cNvSpPr/>
          <p:nvPr/>
        </p:nvSpPr>
        <p:spPr>
          <a:xfrm>
            <a:off x="457200" y="1828800"/>
            <a:ext cx="91441" cy="2148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7"/>
          <p:cNvSpPr txBox="1"/>
          <p:nvPr/>
        </p:nvSpPr>
        <p:spPr>
          <a:xfrm>
            <a:off x="685800" y="1969769"/>
            <a:ext cx="24231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ASR</a:t>
            </a:r>
          </a:p>
        </p:txBody>
      </p:sp>
      <p:sp>
        <p:nvSpPr>
          <p:cNvPr id="188" name="Text 8"/>
          <p:cNvSpPr txBox="1"/>
          <p:nvPr/>
        </p:nvSpPr>
        <p:spPr>
          <a:xfrm>
            <a:off x="2788920" y="2057444"/>
            <a:ext cx="12801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D4A017"/>
                </a:solidFill>
              </a:defRPr>
            </a:lvl1pPr>
          </a:lstStyle>
          <a:p>
            <a:pPr/>
            <a:r>
              <a:t>5 challenges</a:t>
            </a:r>
          </a:p>
        </p:txBody>
      </p:sp>
      <p:sp>
        <p:nvSpPr>
          <p:cNvPr id="189" name="Text 9"/>
          <p:cNvSpPr txBox="1"/>
          <p:nvPr/>
        </p:nvSpPr>
        <p:spPr>
          <a:xfrm>
            <a:off x="731519" y="2634024"/>
            <a:ext cx="3291842" cy="949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Evaluation measures beyond WER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Code-switched ASR (Hindi-English, Tamil-English, etc.)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Domain-specific ASR (agriculture, health, legal)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Low-resource ASR — doing more with less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Long-form ASR (lectures, meetings, court audio)</a:t>
            </a:r>
          </a:p>
        </p:txBody>
      </p:sp>
      <p:sp>
        <p:nvSpPr>
          <p:cNvPr id="190" name="Shape 10"/>
          <p:cNvSpPr/>
          <p:nvPr/>
        </p:nvSpPr>
        <p:spPr>
          <a:xfrm>
            <a:off x="4297679" y="1828800"/>
            <a:ext cx="3703321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Shape 11"/>
          <p:cNvSpPr/>
          <p:nvPr/>
        </p:nvSpPr>
        <p:spPr>
          <a:xfrm>
            <a:off x="4297679" y="1828800"/>
            <a:ext cx="91441" cy="2148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12"/>
          <p:cNvSpPr txBox="1"/>
          <p:nvPr/>
        </p:nvSpPr>
        <p:spPr>
          <a:xfrm>
            <a:off x="4526279" y="1969769"/>
            <a:ext cx="24231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TTS</a:t>
            </a:r>
          </a:p>
        </p:txBody>
      </p:sp>
      <p:sp>
        <p:nvSpPr>
          <p:cNvPr id="193" name="Text 13"/>
          <p:cNvSpPr txBox="1"/>
          <p:nvPr/>
        </p:nvSpPr>
        <p:spPr>
          <a:xfrm>
            <a:off x="6629400" y="2057444"/>
            <a:ext cx="12801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D4A017"/>
                </a:solidFill>
              </a:defRPr>
            </a:lvl1pPr>
          </a:lstStyle>
          <a:p>
            <a:pPr/>
            <a:r>
              <a:t>4 challenges</a:t>
            </a:r>
          </a:p>
        </p:txBody>
      </p:sp>
      <p:sp>
        <p:nvSpPr>
          <p:cNvPr id="194" name="Text 14"/>
          <p:cNvSpPr txBox="1"/>
          <p:nvPr/>
        </p:nvSpPr>
        <p:spPr>
          <a:xfrm>
            <a:off x="4572000" y="2735624"/>
            <a:ext cx="3291841" cy="746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New TTS evaluation metrics beyond MOS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Multilingual TTS — one model, many Indic languages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Indic prosody — schwa deletion, gemination, intonation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Long-form TTS (audiobooks, news, education)</a:t>
            </a:r>
          </a:p>
        </p:txBody>
      </p:sp>
      <p:sp>
        <p:nvSpPr>
          <p:cNvPr id="195" name="Shape 15"/>
          <p:cNvSpPr/>
          <p:nvPr/>
        </p:nvSpPr>
        <p:spPr>
          <a:xfrm>
            <a:off x="8138159" y="1828800"/>
            <a:ext cx="3703321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Shape 16"/>
          <p:cNvSpPr/>
          <p:nvPr/>
        </p:nvSpPr>
        <p:spPr>
          <a:xfrm>
            <a:off x="8138159" y="1828800"/>
            <a:ext cx="91441" cy="2148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17"/>
          <p:cNvSpPr txBox="1"/>
          <p:nvPr/>
        </p:nvSpPr>
        <p:spPr>
          <a:xfrm>
            <a:off x="8366759" y="1969769"/>
            <a:ext cx="24231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S2S</a:t>
            </a:r>
          </a:p>
        </p:txBody>
      </p:sp>
      <p:sp>
        <p:nvSpPr>
          <p:cNvPr id="198" name="Text 18"/>
          <p:cNvSpPr txBox="1"/>
          <p:nvPr/>
        </p:nvSpPr>
        <p:spPr>
          <a:xfrm>
            <a:off x="10469880" y="2057444"/>
            <a:ext cx="12801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D4A017"/>
                </a:solidFill>
              </a:defRPr>
            </a:lvl1pPr>
          </a:lstStyle>
          <a:p>
            <a:pPr/>
            <a:r>
              <a:t>3 challenges</a:t>
            </a:r>
          </a:p>
        </p:txBody>
      </p:sp>
      <p:sp>
        <p:nvSpPr>
          <p:cNvPr id="199" name="Text 19"/>
          <p:cNvSpPr txBox="1"/>
          <p:nvPr/>
        </p:nvSpPr>
        <p:spPr>
          <a:xfrm>
            <a:off x="8412480" y="2837224"/>
            <a:ext cx="3291841" cy="543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Techniques to construct S2S datasets for Indic pairs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Cascaded vs end-to-end S2S models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Holistic S2S evaluation metrics</a:t>
            </a:r>
          </a:p>
        </p:txBody>
      </p:sp>
      <p:sp>
        <p:nvSpPr>
          <p:cNvPr id="200" name="Shape 20"/>
          <p:cNvSpPr/>
          <p:nvPr/>
        </p:nvSpPr>
        <p:spPr>
          <a:xfrm>
            <a:off x="457199" y="4114800"/>
            <a:ext cx="3703322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Shape 21"/>
          <p:cNvSpPr/>
          <p:nvPr/>
        </p:nvSpPr>
        <p:spPr>
          <a:xfrm>
            <a:off x="457200" y="4114800"/>
            <a:ext cx="91441" cy="2148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22"/>
          <p:cNvSpPr txBox="1"/>
          <p:nvPr/>
        </p:nvSpPr>
        <p:spPr>
          <a:xfrm>
            <a:off x="685800" y="4255770"/>
            <a:ext cx="24231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SQA</a:t>
            </a:r>
          </a:p>
        </p:txBody>
      </p:sp>
      <p:sp>
        <p:nvSpPr>
          <p:cNvPr id="203" name="Text 23"/>
          <p:cNvSpPr txBox="1"/>
          <p:nvPr/>
        </p:nvSpPr>
        <p:spPr>
          <a:xfrm>
            <a:off x="2788920" y="4343444"/>
            <a:ext cx="12801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D4A017"/>
                </a:solidFill>
              </a:defRPr>
            </a:lvl1pPr>
          </a:lstStyle>
          <a:p>
            <a:pPr/>
            <a:r>
              <a:t>4 challenges</a:t>
            </a:r>
          </a:p>
        </p:txBody>
      </p:sp>
      <p:sp>
        <p:nvSpPr>
          <p:cNvPr id="204" name="Text 24"/>
          <p:cNvSpPr txBox="1"/>
          <p:nvPr/>
        </p:nvSpPr>
        <p:spPr>
          <a:xfrm>
            <a:off x="731519" y="5021624"/>
            <a:ext cx="3291842" cy="746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Evaluation metrics for Spoken QA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Cascaded vs end-to-end Spoken QA models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Dataset creation techniques for Spoken QA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MCQ vs descriptive Spoken QA</a:t>
            </a:r>
          </a:p>
        </p:txBody>
      </p:sp>
      <p:sp>
        <p:nvSpPr>
          <p:cNvPr id="205" name="Shape 25"/>
          <p:cNvSpPr/>
          <p:nvPr/>
        </p:nvSpPr>
        <p:spPr>
          <a:xfrm>
            <a:off x="4297679" y="4114800"/>
            <a:ext cx="3703321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Shape 26"/>
          <p:cNvSpPr/>
          <p:nvPr/>
        </p:nvSpPr>
        <p:spPr>
          <a:xfrm>
            <a:off x="4297679" y="4114800"/>
            <a:ext cx="91441" cy="2148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27"/>
          <p:cNvSpPr txBox="1"/>
          <p:nvPr/>
        </p:nvSpPr>
        <p:spPr>
          <a:xfrm>
            <a:off x="4526279" y="4255770"/>
            <a:ext cx="24231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Speech LLMs</a:t>
            </a:r>
          </a:p>
        </p:txBody>
      </p:sp>
      <p:sp>
        <p:nvSpPr>
          <p:cNvPr id="208" name="Text 28"/>
          <p:cNvSpPr txBox="1"/>
          <p:nvPr/>
        </p:nvSpPr>
        <p:spPr>
          <a:xfrm>
            <a:off x="6629400" y="4343444"/>
            <a:ext cx="12801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D4A017"/>
                </a:solidFill>
              </a:defRPr>
            </a:lvl1pPr>
          </a:lstStyle>
          <a:p>
            <a:pPr/>
            <a:r>
              <a:t>2 challenges</a:t>
            </a:r>
          </a:p>
        </p:txBody>
      </p:sp>
      <p:sp>
        <p:nvSpPr>
          <p:cNvPr id="209" name="Text 29"/>
          <p:cNvSpPr txBox="1"/>
          <p:nvPr/>
        </p:nvSpPr>
        <p:spPr>
          <a:xfrm>
            <a:off x="4572000" y="5224824"/>
            <a:ext cx="3291841" cy="340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Building Speech LLMs for Indic languages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Speaker characteristics from Speech LLMs</a:t>
            </a:r>
          </a:p>
        </p:txBody>
      </p:sp>
      <p:sp>
        <p:nvSpPr>
          <p:cNvPr id="210" name="Shape 30"/>
          <p:cNvSpPr/>
          <p:nvPr/>
        </p:nvSpPr>
        <p:spPr>
          <a:xfrm>
            <a:off x="8138159" y="4114800"/>
            <a:ext cx="3703321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Shape 31"/>
          <p:cNvSpPr/>
          <p:nvPr/>
        </p:nvSpPr>
        <p:spPr>
          <a:xfrm>
            <a:off x="8138159" y="4114800"/>
            <a:ext cx="91441" cy="2148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32"/>
          <p:cNvSpPr txBox="1"/>
          <p:nvPr/>
        </p:nvSpPr>
        <p:spPr>
          <a:xfrm>
            <a:off x="8366759" y="4255770"/>
            <a:ext cx="24231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Rich Data</a:t>
            </a:r>
          </a:p>
        </p:txBody>
      </p:sp>
      <p:sp>
        <p:nvSpPr>
          <p:cNvPr id="213" name="Text 33"/>
          <p:cNvSpPr txBox="1"/>
          <p:nvPr/>
        </p:nvSpPr>
        <p:spPr>
          <a:xfrm>
            <a:off x="10469880" y="4343444"/>
            <a:ext cx="12801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D4A017"/>
                </a:solidFill>
              </a:defRPr>
            </a:lvl1pPr>
          </a:lstStyle>
          <a:p>
            <a:pPr/>
            <a:r>
              <a:t>2 challenges</a:t>
            </a:r>
          </a:p>
        </p:txBody>
      </p:sp>
      <p:sp>
        <p:nvSpPr>
          <p:cNvPr id="214" name="Text 34"/>
          <p:cNvSpPr txBox="1"/>
          <p:nvPr/>
        </p:nvSpPr>
        <p:spPr>
          <a:xfrm>
            <a:off x="8412480" y="5142274"/>
            <a:ext cx="3291841" cy="505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Rich transcription beyond plain text (prosody, disfluency, emotion)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000">
                <a:solidFill>
                  <a:srgbClr val="1A1A1A"/>
                </a:solidFill>
              </a:defRPr>
            </a:pPr>
            <a:r>
              <a:t>Data creation with minimal human effort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 txBox="1"/>
          <p:nvPr/>
        </p:nvSpPr>
        <p:spPr>
          <a:xfrm>
            <a:off x="457200" y="299720"/>
            <a:ext cx="3657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SLT-Eval 2027</a:t>
            </a:r>
          </a:p>
        </p:txBody>
      </p:sp>
      <p:sp>
        <p:nvSpPr>
          <p:cNvPr id="217" name="Text 1"/>
          <p:cNvSpPr txBox="1"/>
          <p:nvPr/>
        </p:nvSpPr>
        <p:spPr>
          <a:xfrm>
            <a:off x="7315200" y="320084"/>
            <a:ext cx="4389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i="1" sz="1000">
                <a:solidFill>
                  <a:srgbClr val="5F6B7A"/>
                </a:solidFill>
              </a:defRPr>
            </a:lvl1pPr>
          </a:lstStyle>
          <a:p>
            <a:pPr/>
            <a:r>
              <a:t>LTRC 2.0  •  Global Standard for Indic AI</a:t>
            </a:r>
          </a:p>
        </p:txBody>
      </p:sp>
      <p:sp>
        <p:nvSpPr>
          <p:cNvPr id="218" name="Text 2"/>
          <p:cNvSpPr txBox="1"/>
          <p:nvPr/>
        </p:nvSpPr>
        <p:spPr>
          <a:xfrm>
            <a:off x="457200" y="6520180"/>
            <a:ext cx="5486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F6B7A"/>
                </a:solidFill>
              </a:defRPr>
            </a:lvl1pPr>
          </a:lstStyle>
          <a:p>
            <a:pPr/>
            <a:r>
              <a:t>LTRC, IIIT Hyderabad</a:t>
            </a:r>
          </a:p>
        </p:txBody>
      </p:sp>
      <p:sp>
        <p:nvSpPr>
          <p:cNvPr id="219" name="Text 3"/>
          <p:cNvSpPr txBox="1"/>
          <p:nvPr/>
        </p:nvSpPr>
        <p:spPr>
          <a:xfrm>
            <a:off x="457199" y="777239"/>
            <a:ext cx="112471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Shared Tasks: Language</a:t>
            </a:r>
          </a:p>
        </p:txBody>
      </p:sp>
      <p:sp>
        <p:nvSpPr>
          <p:cNvPr id="220" name="Text 4"/>
          <p:cNvSpPr txBox="1"/>
          <p:nvPr/>
        </p:nvSpPr>
        <p:spPr>
          <a:xfrm>
            <a:off x="457199" y="1386648"/>
            <a:ext cx="112471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1C7293"/>
                </a:solidFill>
              </a:defRPr>
            </a:lvl1pPr>
          </a:lstStyle>
          <a:p>
            <a:pPr/>
            <a:r>
              <a:t>Robust MT for Indian Languages</a:t>
            </a:r>
          </a:p>
        </p:txBody>
      </p:sp>
      <p:sp>
        <p:nvSpPr>
          <p:cNvPr id="221" name="Text 5"/>
          <p:cNvSpPr txBox="1"/>
          <p:nvPr/>
        </p:nvSpPr>
        <p:spPr>
          <a:xfrm>
            <a:off x="457199" y="1882579"/>
            <a:ext cx="1124712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13315C"/>
                </a:solidFill>
              </a:defRPr>
            </a:lvl1pPr>
          </a:lstStyle>
          <a:p>
            <a:pPr/>
            <a:r>
              <a:t>Move beyond aggregate BLEU. Diagnose where Indic MT actually breaks — by linguistic phenomenon, by dialect, by error type.</a:t>
            </a:r>
          </a:p>
        </p:txBody>
      </p:sp>
      <p:sp>
        <p:nvSpPr>
          <p:cNvPr id="222" name="Shape 6"/>
          <p:cNvSpPr/>
          <p:nvPr/>
        </p:nvSpPr>
        <p:spPr>
          <a:xfrm>
            <a:off x="457199" y="2331720"/>
            <a:ext cx="3703322" cy="3291841"/>
          </a:xfrm>
          <a:prstGeom prst="rect">
            <a:avLst/>
          </a:prstGeom>
          <a:solidFill>
            <a:srgbClr val="EEF2F7"/>
          </a:solidFill>
          <a:ln>
            <a:solidFill>
              <a:srgbClr val="D0DC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 7"/>
          <p:cNvSpPr txBox="1"/>
          <p:nvPr/>
        </p:nvSpPr>
        <p:spPr>
          <a:xfrm>
            <a:off x="685800" y="2526029"/>
            <a:ext cx="1371600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600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4" name="Text 8"/>
          <p:cNvSpPr txBox="1"/>
          <p:nvPr/>
        </p:nvSpPr>
        <p:spPr>
          <a:xfrm>
            <a:off x="731519" y="3455669"/>
            <a:ext cx="324612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Challenge Set Evaluation</a:t>
            </a:r>
          </a:p>
        </p:txBody>
      </p:sp>
      <p:sp>
        <p:nvSpPr>
          <p:cNvPr id="225" name="Text 9"/>
          <p:cNvSpPr txBox="1"/>
          <p:nvPr/>
        </p:nvSpPr>
        <p:spPr>
          <a:xfrm>
            <a:off x="731519" y="4272587"/>
            <a:ext cx="3246122" cy="918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Linguistically grounded diagnostic test sets — minimal pairs targeting morphology, syntax, code-switching, idioms and domain usage — to isolate specific MT capabilities rather than aggregate-scoring everything.</a:t>
            </a:r>
          </a:p>
        </p:txBody>
      </p:sp>
      <p:sp>
        <p:nvSpPr>
          <p:cNvPr id="226" name="Shape 10"/>
          <p:cNvSpPr/>
          <p:nvPr/>
        </p:nvSpPr>
        <p:spPr>
          <a:xfrm>
            <a:off x="4297679" y="2331720"/>
            <a:ext cx="3703321" cy="3291841"/>
          </a:xfrm>
          <a:prstGeom prst="rect">
            <a:avLst/>
          </a:prstGeom>
          <a:solidFill>
            <a:srgbClr val="EEF2F7"/>
          </a:solidFill>
          <a:ln>
            <a:solidFill>
              <a:srgbClr val="D0DC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11"/>
          <p:cNvSpPr txBox="1"/>
          <p:nvPr/>
        </p:nvSpPr>
        <p:spPr>
          <a:xfrm>
            <a:off x="4526279" y="2526029"/>
            <a:ext cx="1371601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600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8" name="Text 12"/>
          <p:cNvSpPr txBox="1"/>
          <p:nvPr/>
        </p:nvSpPr>
        <p:spPr>
          <a:xfrm>
            <a:off x="4572000" y="3455669"/>
            <a:ext cx="324612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Dialect Robustness</a:t>
            </a:r>
          </a:p>
        </p:txBody>
      </p:sp>
      <p:sp>
        <p:nvSpPr>
          <p:cNvPr id="229" name="Text 13"/>
          <p:cNvSpPr txBox="1"/>
          <p:nvPr/>
        </p:nvSpPr>
        <p:spPr>
          <a:xfrm>
            <a:off x="4572000" y="4272587"/>
            <a:ext cx="3246121" cy="918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Evaluate MT on dialectally diverse inputs — Telangana Telugu, Kongu Tamil, informal/spoken variants and non-standard grammar. Tests whether systems generalise or silently normalise away dialect.</a:t>
            </a:r>
          </a:p>
        </p:txBody>
      </p:sp>
      <p:sp>
        <p:nvSpPr>
          <p:cNvPr id="230" name="Shape 14"/>
          <p:cNvSpPr/>
          <p:nvPr/>
        </p:nvSpPr>
        <p:spPr>
          <a:xfrm>
            <a:off x="8138159" y="2331720"/>
            <a:ext cx="3703321" cy="3291841"/>
          </a:xfrm>
          <a:prstGeom prst="rect">
            <a:avLst/>
          </a:prstGeom>
          <a:solidFill>
            <a:srgbClr val="EEF2F7"/>
          </a:solidFill>
          <a:ln>
            <a:solidFill>
              <a:srgbClr val="D0DC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15"/>
          <p:cNvSpPr txBox="1"/>
          <p:nvPr/>
        </p:nvSpPr>
        <p:spPr>
          <a:xfrm>
            <a:off x="8366759" y="2526029"/>
            <a:ext cx="1371601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600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2" name="Text 16"/>
          <p:cNvSpPr txBox="1"/>
          <p:nvPr/>
        </p:nvSpPr>
        <p:spPr>
          <a:xfrm>
            <a:off x="8412480" y="3455669"/>
            <a:ext cx="324612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Error Analysis Track</a:t>
            </a:r>
          </a:p>
        </p:txBody>
      </p:sp>
      <p:sp>
        <p:nvSpPr>
          <p:cNvPr id="233" name="Text 17"/>
          <p:cNvSpPr txBox="1"/>
          <p:nvPr/>
        </p:nvSpPr>
        <p:spPr>
          <a:xfrm>
            <a:off x="8412480" y="4367837"/>
            <a:ext cx="3246121" cy="728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Structured error taxonomy — morphological, syntactic, lexical, named-entity/transliteration, dialect misinterpretation. Submissions provide fine-grained analysis, not just outputs.</a:t>
            </a:r>
          </a:p>
        </p:txBody>
      </p:sp>
      <p:sp>
        <p:nvSpPr>
          <p:cNvPr id="234" name="Text 18"/>
          <p:cNvSpPr txBox="1"/>
          <p:nvPr/>
        </p:nvSpPr>
        <p:spPr>
          <a:xfrm>
            <a:off x="457199" y="5876466"/>
            <a:ext cx="11247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100">
                <a:solidFill>
                  <a:srgbClr val="5F6B7A"/>
                </a:solidFill>
              </a:defRPr>
            </a:lvl1pPr>
          </a:lstStyle>
          <a:p>
            <a:pPr/>
            <a:r>
              <a:t>Strategic role: gives SLT-Eval a flagship text-side track and brings PLURAL Lab squarely into the workshop.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 txBox="1"/>
          <p:nvPr/>
        </p:nvSpPr>
        <p:spPr>
          <a:xfrm>
            <a:off x="457200" y="299720"/>
            <a:ext cx="3657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SLT-Eval 2027</a:t>
            </a:r>
          </a:p>
        </p:txBody>
      </p:sp>
      <p:sp>
        <p:nvSpPr>
          <p:cNvPr id="237" name="Text 1"/>
          <p:cNvSpPr txBox="1"/>
          <p:nvPr/>
        </p:nvSpPr>
        <p:spPr>
          <a:xfrm>
            <a:off x="7315200" y="320084"/>
            <a:ext cx="4389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i="1" sz="1000">
                <a:solidFill>
                  <a:srgbClr val="5F6B7A"/>
                </a:solidFill>
              </a:defRPr>
            </a:lvl1pPr>
          </a:lstStyle>
          <a:p>
            <a:pPr/>
            <a:r>
              <a:t>LTRC 2.0  •  Global Standard for Indic AI</a:t>
            </a:r>
          </a:p>
        </p:txBody>
      </p:sp>
      <p:sp>
        <p:nvSpPr>
          <p:cNvPr id="238" name="Text 2"/>
          <p:cNvSpPr txBox="1"/>
          <p:nvPr/>
        </p:nvSpPr>
        <p:spPr>
          <a:xfrm>
            <a:off x="457200" y="6520180"/>
            <a:ext cx="5486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F6B7A"/>
                </a:solidFill>
              </a:defRPr>
            </a:lvl1pPr>
          </a:lstStyle>
          <a:p>
            <a:pPr/>
            <a:r>
              <a:t>LTRC, IIIT Hyderabad</a:t>
            </a:r>
          </a:p>
        </p:txBody>
      </p:sp>
      <p:sp>
        <p:nvSpPr>
          <p:cNvPr id="239" name="Text 3"/>
          <p:cNvSpPr txBox="1"/>
          <p:nvPr/>
        </p:nvSpPr>
        <p:spPr>
          <a:xfrm>
            <a:off x="457199" y="777239"/>
            <a:ext cx="112471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Workshop Host Trials</a:t>
            </a:r>
          </a:p>
        </p:txBody>
      </p:sp>
      <p:sp>
        <p:nvSpPr>
          <p:cNvPr id="240" name="Text 4"/>
          <p:cNvSpPr txBox="1"/>
          <p:nvPr/>
        </p:nvSpPr>
        <p:spPr>
          <a:xfrm>
            <a:off x="457199" y="1386648"/>
            <a:ext cx="112471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1C7293"/>
                </a:solidFill>
              </a:defRPr>
            </a:lvl1pPr>
          </a:lstStyle>
          <a:p>
            <a:pPr/>
            <a:r>
              <a:t>Two paths under active evaluation</a:t>
            </a:r>
          </a:p>
        </p:txBody>
      </p:sp>
      <p:sp>
        <p:nvSpPr>
          <p:cNvPr id="241" name="Shape 5"/>
          <p:cNvSpPr/>
          <p:nvPr/>
        </p:nvSpPr>
        <p:spPr>
          <a:xfrm>
            <a:off x="457199" y="1828800"/>
            <a:ext cx="5532122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Shape 6"/>
          <p:cNvSpPr/>
          <p:nvPr/>
        </p:nvSpPr>
        <p:spPr>
          <a:xfrm>
            <a:off x="457199" y="1828800"/>
            <a:ext cx="5532122" cy="640081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7"/>
          <p:cNvSpPr txBox="1"/>
          <p:nvPr/>
        </p:nvSpPr>
        <p:spPr>
          <a:xfrm>
            <a:off x="685800" y="2005506"/>
            <a:ext cx="1828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D4A017"/>
                </a:solidFill>
              </a:defRPr>
            </a:lvl1pPr>
          </a:lstStyle>
          <a:p>
            <a:pPr/>
            <a:r>
              <a:t>Path A</a:t>
            </a:r>
          </a:p>
        </p:txBody>
      </p:sp>
      <p:sp>
        <p:nvSpPr>
          <p:cNvPr id="244" name="Text 8"/>
          <p:cNvSpPr txBox="1"/>
          <p:nvPr/>
        </p:nvSpPr>
        <p:spPr>
          <a:xfrm>
            <a:off x="685799" y="2122169"/>
            <a:ext cx="51206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IEEE Signal Processing Society</a:t>
            </a:r>
          </a:p>
        </p:txBody>
      </p:sp>
      <p:sp>
        <p:nvSpPr>
          <p:cNvPr id="245" name="Text 9"/>
          <p:cNvSpPr txBox="1"/>
          <p:nvPr/>
        </p:nvSpPr>
        <p:spPr>
          <a:xfrm>
            <a:off x="685799" y="2729528"/>
            <a:ext cx="14630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1C7293"/>
                </a:solidFill>
              </a:defRPr>
            </a:lvl1pPr>
          </a:lstStyle>
          <a:p>
            <a:pPr/>
            <a:r>
              <a:t>Mechanism</a:t>
            </a:r>
          </a:p>
        </p:txBody>
      </p:sp>
      <p:sp>
        <p:nvSpPr>
          <p:cNvPr id="246" name="Text 10"/>
          <p:cNvSpPr txBox="1"/>
          <p:nvPr/>
        </p:nvSpPr>
        <p:spPr>
          <a:xfrm>
            <a:off x="685800" y="2910077"/>
            <a:ext cx="5029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Technical Co-Sponsorship via SPS</a:t>
            </a:r>
          </a:p>
        </p:txBody>
      </p:sp>
      <p:sp>
        <p:nvSpPr>
          <p:cNvPr id="247" name="Text 11"/>
          <p:cNvSpPr txBox="1"/>
          <p:nvPr/>
        </p:nvSpPr>
        <p:spPr>
          <a:xfrm>
            <a:off x="685799" y="3197396"/>
            <a:ext cx="14630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1C7293"/>
                </a:solidFill>
              </a:defRPr>
            </a:lvl1pPr>
          </a:lstStyle>
          <a:p>
            <a:pPr/>
            <a:r>
              <a:t>Community</a:t>
            </a:r>
          </a:p>
        </p:txBody>
      </p:sp>
      <p:sp>
        <p:nvSpPr>
          <p:cNvPr id="248" name="Text 12"/>
          <p:cNvSpPr txBox="1"/>
          <p:nvPr/>
        </p:nvSpPr>
        <p:spPr>
          <a:xfrm>
            <a:off x="685800" y="3449219"/>
            <a:ext cx="5029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Strong signal-processing community fit; alignment with ICASSP/SLT cadence</a:t>
            </a:r>
          </a:p>
        </p:txBody>
      </p:sp>
      <p:sp>
        <p:nvSpPr>
          <p:cNvPr id="249" name="Text 13"/>
          <p:cNvSpPr txBox="1"/>
          <p:nvPr/>
        </p:nvSpPr>
        <p:spPr>
          <a:xfrm>
            <a:off x="685799" y="3808774"/>
            <a:ext cx="14630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1C7293"/>
                </a:solidFill>
              </a:defRPr>
            </a:lvl1pPr>
          </a:lstStyle>
          <a:p>
            <a:pPr/>
            <a:r>
              <a:t>Pros</a:t>
            </a:r>
          </a:p>
        </p:txBody>
      </p:sp>
      <p:sp>
        <p:nvSpPr>
          <p:cNvPr id="250" name="Text 14"/>
          <p:cNvSpPr txBox="1"/>
          <p:nvPr/>
        </p:nvSpPr>
        <p:spPr>
          <a:xfrm>
            <a:off x="685800" y="4000036"/>
            <a:ext cx="5640314" cy="614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0315" indent="-120315">
              <a:spcBef>
                <a:spcPts val="300"/>
              </a:spcBef>
              <a:buSzPct val="100000"/>
              <a:buChar char="•"/>
              <a:defRPr sz="1200">
                <a:solidFill>
                  <a:srgbClr val="1A1A1A"/>
                </a:solidFill>
              </a:defRPr>
            </a:pPr>
            <a:r>
              <a:t>Prof. Vuppala chairs IEEE SPS Hyderabad Chapter (direct procedural access)</a:t>
            </a:r>
          </a:p>
          <a:p>
            <a:pPr marL="120315" indent="-120315">
              <a:spcBef>
                <a:spcPts val="300"/>
              </a:spcBef>
              <a:buSzPct val="100000"/>
              <a:buChar char="•"/>
              <a:defRPr sz="1200">
                <a:solidFill>
                  <a:srgbClr val="1A1A1A"/>
                </a:solidFill>
              </a:defRPr>
            </a:pPr>
            <a:r>
              <a:t>Global Standard for Indic AI framing is directly inline with IEEE Standards</a:t>
            </a:r>
          </a:p>
          <a:p>
            <a:pPr marL="120315" indent="-120315">
              <a:spcBef>
                <a:spcPts val="300"/>
              </a:spcBef>
              <a:buSzPct val="100000"/>
              <a:buChar char="•"/>
              <a:defRPr sz="1200">
                <a:solidFill>
                  <a:srgbClr val="1A1A1A"/>
                </a:solidFill>
              </a:defRPr>
            </a:pPr>
            <a:r>
              <a:t>IEEE SPS comfortably covers MT, NLG, LLM and multimodal tracks alongside speech</a:t>
            </a:r>
          </a:p>
        </p:txBody>
      </p:sp>
      <p:sp>
        <p:nvSpPr>
          <p:cNvPr id="251" name="Text 15"/>
          <p:cNvSpPr txBox="1"/>
          <p:nvPr/>
        </p:nvSpPr>
        <p:spPr>
          <a:xfrm>
            <a:off x="685799" y="4912781"/>
            <a:ext cx="14630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1C7293"/>
                </a:solidFill>
              </a:defRPr>
            </a:lvl1pPr>
          </a:lstStyle>
          <a:p>
            <a:pPr/>
            <a:r>
              <a:t>Cons</a:t>
            </a:r>
          </a:p>
        </p:txBody>
      </p:sp>
      <p:sp>
        <p:nvSpPr>
          <p:cNvPr id="252" name="Text 16"/>
          <p:cNvSpPr txBox="1"/>
          <p:nvPr/>
        </p:nvSpPr>
        <p:spPr>
          <a:xfrm>
            <a:off x="685800" y="5081831"/>
            <a:ext cx="5029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Heavier paperwork; Financial obligations and surplus-sharing rules are stricter</a:t>
            </a:r>
          </a:p>
        </p:txBody>
      </p:sp>
      <p:sp>
        <p:nvSpPr>
          <p:cNvPr id="253" name="Text 17"/>
          <p:cNvSpPr txBox="1"/>
          <p:nvPr/>
        </p:nvSpPr>
        <p:spPr>
          <a:xfrm>
            <a:off x="685799" y="5439200"/>
            <a:ext cx="14630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1C7293"/>
                </a:solidFill>
              </a:defRPr>
            </a:lvl1pPr>
          </a:lstStyle>
          <a:p>
            <a:pPr/>
            <a:r>
              <a:t>Status</a:t>
            </a:r>
          </a:p>
        </p:txBody>
      </p:sp>
      <p:sp>
        <p:nvSpPr>
          <p:cNvPr id="254" name="Text 18"/>
          <p:cNvSpPr txBox="1"/>
          <p:nvPr/>
        </p:nvSpPr>
        <p:spPr>
          <a:xfrm>
            <a:off x="685800" y="5624572"/>
            <a:ext cx="5029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Proposal to be submitted</a:t>
            </a:r>
          </a:p>
        </p:txBody>
      </p:sp>
      <p:sp>
        <p:nvSpPr>
          <p:cNvPr id="255" name="Shape 19"/>
          <p:cNvSpPr/>
          <p:nvPr/>
        </p:nvSpPr>
        <p:spPr>
          <a:xfrm>
            <a:off x="6172200" y="1828800"/>
            <a:ext cx="5532121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Shape 20"/>
          <p:cNvSpPr/>
          <p:nvPr/>
        </p:nvSpPr>
        <p:spPr>
          <a:xfrm>
            <a:off x="6172200" y="1828800"/>
            <a:ext cx="5532121" cy="640081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21"/>
          <p:cNvSpPr txBox="1"/>
          <p:nvPr/>
        </p:nvSpPr>
        <p:spPr>
          <a:xfrm>
            <a:off x="6400800" y="2005506"/>
            <a:ext cx="1828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D4A017"/>
                </a:solidFill>
              </a:defRPr>
            </a:lvl1pPr>
          </a:lstStyle>
          <a:p>
            <a:pPr/>
            <a:r>
              <a:t>Path B</a:t>
            </a:r>
          </a:p>
        </p:txBody>
      </p:sp>
      <p:sp>
        <p:nvSpPr>
          <p:cNvPr id="258" name="Text 22"/>
          <p:cNvSpPr txBox="1"/>
          <p:nvPr/>
        </p:nvSpPr>
        <p:spPr>
          <a:xfrm>
            <a:off x="6400800" y="2122169"/>
            <a:ext cx="51206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ISCA</a:t>
            </a:r>
          </a:p>
        </p:txBody>
      </p:sp>
      <p:sp>
        <p:nvSpPr>
          <p:cNvPr id="259" name="Text 23"/>
          <p:cNvSpPr txBox="1"/>
          <p:nvPr/>
        </p:nvSpPr>
        <p:spPr>
          <a:xfrm>
            <a:off x="6400800" y="2729528"/>
            <a:ext cx="14630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1C7293"/>
                </a:solidFill>
              </a:defRPr>
            </a:lvl1pPr>
          </a:lstStyle>
          <a:p>
            <a:pPr/>
            <a:r>
              <a:t>Mechanism</a:t>
            </a:r>
          </a:p>
        </p:txBody>
      </p:sp>
      <p:sp>
        <p:nvSpPr>
          <p:cNvPr id="260" name="Text 24"/>
          <p:cNvSpPr txBox="1"/>
          <p:nvPr/>
        </p:nvSpPr>
        <p:spPr>
          <a:xfrm>
            <a:off x="6400800" y="2910077"/>
            <a:ext cx="5029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ISCA-supported Special Interest workshop</a:t>
            </a:r>
          </a:p>
        </p:txBody>
      </p:sp>
      <p:sp>
        <p:nvSpPr>
          <p:cNvPr id="261" name="Text 25"/>
          <p:cNvSpPr txBox="1"/>
          <p:nvPr/>
        </p:nvSpPr>
        <p:spPr>
          <a:xfrm>
            <a:off x="6400800" y="3197396"/>
            <a:ext cx="14630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1C7293"/>
                </a:solidFill>
              </a:defRPr>
            </a:lvl1pPr>
          </a:lstStyle>
          <a:p>
            <a:pPr/>
            <a:r>
              <a:t>Community</a:t>
            </a:r>
          </a:p>
        </p:txBody>
      </p:sp>
      <p:sp>
        <p:nvSpPr>
          <p:cNvPr id="262" name="Text 26"/>
          <p:cNvSpPr txBox="1"/>
          <p:nvPr/>
        </p:nvSpPr>
        <p:spPr>
          <a:xfrm>
            <a:off x="6400800" y="3449219"/>
            <a:ext cx="5029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Strong speech-research base; Interspeech adjacency</a:t>
            </a:r>
          </a:p>
        </p:txBody>
      </p:sp>
      <p:sp>
        <p:nvSpPr>
          <p:cNvPr id="263" name="Text 27"/>
          <p:cNvSpPr txBox="1"/>
          <p:nvPr/>
        </p:nvSpPr>
        <p:spPr>
          <a:xfrm>
            <a:off x="6400800" y="3808774"/>
            <a:ext cx="14630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1C7293"/>
                </a:solidFill>
              </a:defRPr>
            </a:lvl1pPr>
          </a:lstStyle>
          <a:p>
            <a:pPr/>
            <a:r>
              <a:t>Pros</a:t>
            </a:r>
          </a:p>
        </p:txBody>
      </p:sp>
      <p:sp>
        <p:nvSpPr>
          <p:cNvPr id="264" name="Text 29"/>
          <p:cNvSpPr txBox="1"/>
          <p:nvPr/>
        </p:nvSpPr>
        <p:spPr>
          <a:xfrm>
            <a:off x="6400800" y="4912781"/>
            <a:ext cx="14630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1C7293"/>
                </a:solidFill>
              </a:defRPr>
            </a:lvl1pPr>
          </a:lstStyle>
          <a:p>
            <a:pPr/>
            <a:r>
              <a:t>Cons</a:t>
            </a:r>
          </a:p>
        </p:txBody>
      </p:sp>
      <p:sp>
        <p:nvSpPr>
          <p:cNvPr id="265" name="Text 30"/>
          <p:cNvSpPr txBox="1"/>
          <p:nvPr/>
        </p:nvSpPr>
        <p:spPr>
          <a:xfrm>
            <a:off x="6400800" y="5081831"/>
            <a:ext cx="5029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Less direct fit for MT, NLG and LLM tracks now planned in SLT-Eval</a:t>
            </a:r>
          </a:p>
        </p:txBody>
      </p:sp>
      <p:sp>
        <p:nvSpPr>
          <p:cNvPr id="266" name="Text 31"/>
          <p:cNvSpPr txBox="1"/>
          <p:nvPr/>
        </p:nvSpPr>
        <p:spPr>
          <a:xfrm>
            <a:off x="6400800" y="5439200"/>
            <a:ext cx="14630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1C7293"/>
                </a:solidFill>
              </a:defRPr>
            </a:lvl1pPr>
          </a:lstStyle>
          <a:p>
            <a:pPr/>
            <a:r>
              <a:t>Status</a:t>
            </a:r>
          </a:p>
        </p:txBody>
      </p:sp>
      <p:sp>
        <p:nvSpPr>
          <p:cNvPr id="267" name="Text 32"/>
          <p:cNvSpPr txBox="1"/>
          <p:nvPr/>
        </p:nvSpPr>
        <p:spPr>
          <a:xfrm>
            <a:off x="6400800" y="5624572"/>
            <a:ext cx="5029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Proposal to be submitted </a:t>
            </a:r>
          </a:p>
        </p:txBody>
      </p:sp>
      <p:sp>
        <p:nvSpPr>
          <p:cNvPr id="268" name="Text 33"/>
          <p:cNvSpPr txBox="1"/>
          <p:nvPr/>
        </p:nvSpPr>
        <p:spPr>
          <a:xfrm>
            <a:off x="457199" y="6345227"/>
            <a:ext cx="112471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200">
                <a:solidFill>
                  <a:srgbClr val="13315C"/>
                </a:solidFill>
              </a:defRPr>
            </a:lvl1pPr>
          </a:lstStyle>
          <a:p>
            <a:pPr/>
            <a:r>
              <a:t>Working preference: IEEE SPS Technical Co-Sponsorship, with ISCA retained as fallback.</a:t>
            </a:r>
          </a:p>
        </p:txBody>
      </p:sp>
      <p:sp>
        <p:nvSpPr>
          <p:cNvPr id="269" name="Text 14"/>
          <p:cNvSpPr txBox="1"/>
          <p:nvPr/>
        </p:nvSpPr>
        <p:spPr>
          <a:xfrm>
            <a:off x="6412314" y="4000036"/>
            <a:ext cx="4828548" cy="804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0315" indent="-120315">
              <a:spcBef>
                <a:spcPts val="300"/>
              </a:spcBef>
              <a:buSzPct val="100000"/>
              <a:buChar char="•"/>
              <a:defRPr sz="1200">
                <a:solidFill>
                  <a:srgbClr val="1A1A1A"/>
                </a:solidFill>
              </a:defRPr>
            </a:pPr>
            <a:r>
              <a:t>Prof. Vuppala is an active member of ISCA</a:t>
            </a:r>
          </a:p>
          <a:p>
            <a:pPr marL="120315" indent="-120315">
              <a:spcBef>
                <a:spcPts val="300"/>
              </a:spcBef>
              <a:buSzPct val="100000"/>
              <a:buChar char="•"/>
              <a:defRPr sz="1200">
                <a:solidFill>
                  <a:srgbClr val="1A1A1A"/>
                </a:solidFill>
              </a:defRPr>
            </a:pPr>
            <a:r>
              <a:t>ISCA-supported workshops have minimal procedural overhead</a:t>
            </a:r>
          </a:p>
          <a:p>
            <a:pPr marL="120315" indent="-120315">
              <a:spcBef>
                <a:spcPts val="300"/>
              </a:spcBef>
              <a:buSzPct val="100000"/>
              <a:buChar char="•"/>
              <a:defRPr sz="1200">
                <a:solidFill>
                  <a:srgbClr val="1A1A1A"/>
                </a:solidFill>
              </a:defRPr>
            </a:pPr>
            <a:r>
              <a:t>Easier to position as a community-driven evaluation initiative rather than a sponsored conference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 0"/>
          <p:cNvSpPr txBox="1"/>
          <p:nvPr/>
        </p:nvSpPr>
        <p:spPr>
          <a:xfrm>
            <a:off x="457200" y="299720"/>
            <a:ext cx="3657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SLT-Eval 2027</a:t>
            </a:r>
          </a:p>
        </p:txBody>
      </p:sp>
      <p:sp>
        <p:nvSpPr>
          <p:cNvPr id="272" name="Text 1"/>
          <p:cNvSpPr txBox="1"/>
          <p:nvPr/>
        </p:nvSpPr>
        <p:spPr>
          <a:xfrm>
            <a:off x="7315200" y="320084"/>
            <a:ext cx="4389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i="1" sz="1000">
                <a:solidFill>
                  <a:srgbClr val="5F6B7A"/>
                </a:solidFill>
              </a:defRPr>
            </a:lvl1pPr>
          </a:lstStyle>
          <a:p>
            <a:pPr/>
            <a:r>
              <a:t>LTRC 2.0  •  Global Standard for Indic AI</a:t>
            </a:r>
          </a:p>
        </p:txBody>
      </p:sp>
      <p:sp>
        <p:nvSpPr>
          <p:cNvPr id="273" name="Text 2"/>
          <p:cNvSpPr txBox="1"/>
          <p:nvPr/>
        </p:nvSpPr>
        <p:spPr>
          <a:xfrm>
            <a:off x="457200" y="6520180"/>
            <a:ext cx="5486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F6B7A"/>
                </a:solidFill>
              </a:defRPr>
            </a:lvl1pPr>
          </a:lstStyle>
          <a:p>
            <a:pPr/>
            <a:r>
              <a:t>LTRC, IIIT Hyderabad</a:t>
            </a:r>
          </a:p>
        </p:txBody>
      </p:sp>
      <p:sp>
        <p:nvSpPr>
          <p:cNvPr id="274" name="Text 3"/>
          <p:cNvSpPr txBox="1"/>
          <p:nvPr/>
        </p:nvSpPr>
        <p:spPr>
          <a:xfrm>
            <a:off x="457199" y="777239"/>
            <a:ext cx="112471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Committee Footprint</a:t>
            </a:r>
          </a:p>
        </p:txBody>
      </p:sp>
      <p:sp>
        <p:nvSpPr>
          <p:cNvPr id="275" name="Text 4"/>
          <p:cNvSpPr txBox="1"/>
          <p:nvPr/>
        </p:nvSpPr>
        <p:spPr>
          <a:xfrm>
            <a:off x="457199" y="1386648"/>
            <a:ext cx="112471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1C7293"/>
                </a:solidFill>
              </a:defRPr>
            </a:lvl1pPr>
          </a:lstStyle>
          <a:p>
            <a:pPr/>
            <a:r>
              <a:t>International, multi-modality, multi-institution</a:t>
            </a:r>
          </a:p>
        </p:txBody>
      </p:sp>
      <p:sp>
        <p:nvSpPr>
          <p:cNvPr id="276" name="Shape 5"/>
          <p:cNvSpPr/>
          <p:nvPr/>
        </p:nvSpPr>
        <p:spPr>
          <a:xfrm>
            <a:off x="457199" y="1828800"/>
            <a:ext cx="5623562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Shape 6"/>
          <p:cNvSpPr/>
          <p:nvPr/>
        </p:nvSpPr>
        <p:spPr>
          <a:xfrm>
            <a:off x="457199" y="1828800"/>
            <a:ext cx="5623562" cy="7315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Text 7"/>
          <p:cNvSpPr txBox="1"/>
          <p:nvPr/>
        </p:nvSpPr>
        <p:spPr>
          <a:xfrm>
            <a:off x="685799" y="2055622"/>
            <a:ext cx="516636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General Chairs</a:t>
            </a:r>
          </a:p>
        </p:txBody>
      </p:sp>
      <p:sp>
        <p:nvSpPr>
          <p:cNvPr id="279" name="Text 8"/>
          <p:cNvSpPr txBox="1"/>
          <p:nvPr/>
        </p:nvSpPr>
        <p:spPr>
          <a:xfrm>
            <a:off x="685799" y="2503504"/>
            <a:ext cx="5166362" cy="337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Anil Kumar Vuppala  •  IIIT Hyderabad (Lead)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Radhika Mamidi  •  IIIT Hyderabad (Co-Lead)</a:t>
            </a:r>
          </a:p>
        </p:txBody>
      </p:sp>
      <p:sp>
        <p:nvSpPr>
          <p:cNvPr id="280" name="Shape 9"/>
          <p:cNvSpPr/>
          <p:nvPr/>
        </p:nvSpPr>
        <p:spPr>
          <a:xfrm>
            <a:off x="6217920" y="1828800"/>
            <a:ext cx="5623561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Shape 10"/>
          <p:cNvSpPr/>
          <p:nvPr/>
        </p:nvSpPr>
        <p:spPr>
          <a:xfrm>
            <a:off x="6217920" y="1828800"/>
            <a:ext cx="5623561" cy="7315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11"/>
          <p:cNvSpPr txBox="1"/>
          <p:nvPr/>
        </p:nvSpPr>
        <p:spPr>
          <a:xfrm>
            <a:off x="6446520" y="2055622"/>
            <a:ext cx="5166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Program Chairs</a:t>
            </a:r>
          </a:p>
        </p:txBody>
      </p:sp>
      <p:sp>
        <p:nvSpPr>
          <p:cNvPr id="283" name="Text 12"/>
          <p:cNvSpPr txBox="1"/>
          <p:nvPr/>
        </p:nvSpPr>
        <p:spPr>
          <a:xfrm>
            <a:off x="6492240" y="2556686"/>
            <a:ext cx="5166361" cy="1150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Matt Post  •  Johns Hopkins HLTCOE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Peter Bell  •  CSTR, Edinburgh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Alan W Black  •  LTI, CMU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Mathew Magimai-Doss  •  Idiap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Dong Wang  •  CSLT, Tsinghua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Lukáš Burget  •  BUT Speech@FIT</a:t>
            </a:r>
          </a:p>
        </p:txBody>
      </p:sp>
      <p:sp>
        <p:nvSpPr>
          <p:cNvPr id="284" name="Shape 13"/>
          <p:cNvSpPr/>
          <p:nvPr/>
        </p:nvSpPr>
        <p:spPr>
          <a:xfrm>
            <a:off x="457199" y="4114800"/>
            <a:ext cx="5623562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Shape 14"/>
          <p:cNvSpPr/>
          <p:nvPr/>
        </p:nvSpPr>
        <p:spPr>
          <a:xfrm>
            <a:off x="457199" y="4114800"/>
            <a:ext cx="5623562" cy="7315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15"/>
          <p:cNvSpPr txBox="1"/>
          <p:nvPr/>
        </p:nvSpPr>
        <p:spPr>
          <a:xfrm>
            <a:off x="685799" y="4341621"/>
            <a:ext cx="516636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Steering Committee (advisory)</a:t>
            </a:r>
          </a:p>
        </p:txBody>
      </p:sp>
      <p:sp>
        <p:nvSpPr>
          <p:cNvPr id="287" name="Text 16"/>
          <p:cNvSpPr txBox="1"/>
          <p:nvPr/>
        </p:nvSpPr>
        <p:spPr>
          <a:xfrm>
            <a:off x="731519" y="4741086"/>
            <a:ext cx="5166362" cy="1353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Shrikanth Narayanan  •  USC SAIL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Shinji Watanabe  •  CMU LTI; Chair, IEEE SPS SLP TC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Simon King  •  Director, CSTR Edinburgh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Honza Černocký  •  Head DCGM, BUT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Thomas Fang Zheng  •  Director, CSLT Tsinghua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Mikko Kurimo  •  Aalto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Rajeev Sangal &amp; Bayya Yegnanarayana  •  IIIT-H</a:t>
            </a:r>
          </a:p>
        </p:txBody>
      </p:sp>
      <p:sp>
        <p:nvSpPr>
          <p:cNvPr id="288" name="Shape 17"/>
          <p:cNvSpPr/>
          <p:nvPr/>
        </p:nvSpPr>
        <p:spPr>
          <a:xfrm>
            <a:off x="6217920" y="4114800"/>
            <a:ext cx="5623561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Shape 18"/>
          <p:cNvSpPr/>
          <p:nvPr/>
        </p:nvSpPr>
        <p:spPr>
          <a:xfrm>
            <a:off x="6217920" y="4114800"/>
            <a:ext cx="5623561" cy="7315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Text 19"/>
          <p:cNvSpPr txBox="1"/>
          <p:nvPr/>
        </p:nvSpPr>
        <p:spPr>
          <a:xfrm>
            <a:off x="6446520" y="4341621"/>
            <a:ext cx="5166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Technical Committee &amp; Local Organization</a:t>
            </a:r>
          </a:p>
        </p:txBody>
      </p:sp>
      <p:sp>
        <p:nvSpPr>
          <p:cNvPr id="291" name="Text 20"/>
          <p:cNvSpPr txBox="1"/>
          <p:nvPr/>
        </p:nvSpPr>
        <p:spPr>
          <a:xfrm>
            <a:off x="6492240" y="4918886"/>
            <a:ext cx="5166361" cy="997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Technical Committee: Khudanpur (JHU), Ganapathy (IISc), Bhiksha Raj (CMU), Hung-yi Lee (NTU), Yamagishi (NII), Bojar (Charles U.), Sitaram (MSR), Umesh &amp; Mahadeva Prasanna, Sriram Ganapathy, Sakti, Kawahara, and 20+ more</a:t>
            </a:r>
          </a:p>
          <a:p>
            <a:pPr marL="342900" indent="-342900">
              <a:spcBef>
                <a:spcPts val="300"/>
              </a:spcBef>
              <a:buSzPct val="100000"/>
              <a:buChar char="■"/>
              <a:defRPr sz="1100">
                <a:solidFill>
                  <a:srgbClr val="1A1A1A"/>
                </a:solidFill>
              </a:defRPr>
            </a:pPr>
            <a:r>
              <a:t>Local (IIIT-H LTRC): Dipti Misra Sharma, Manish Shrivastava, Parameswari Krishnamurthy, Chiranjeevi Yarra, Rajakrishnan Rajkumar, Vasudeva Varma, Arafat Ahsan, Anil Nelakanti, Prakash Yalla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 0"/>
          <p:cNvSpPr txBox="1"/>
          <p:nvPr/>
        </p:nvSpPr>
        <p:spPr>
          <a:xfrm>
            <a:off x="457200" y="299720"/>
            <a:ext cx="3657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SLT-Eval 2027</a:t>
            </a:r>
          </a:p>
        </p:txBody>
      </p:sp>
      <p:sp>
        <p:nvSpPr>
          <p:cNvPr id="294" name="Text 1"/>
          <p:cNvSpPr txBox="1"/>
          <p:nvPr/>
        </p:nvSpPr>
        <p:spPr>
          <a:xfrm>
            <a:off x="7315200" y="320084"/>
            <a:ext cx="4389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i="1" sz="1000">
                <a:solidFill>
                  <a:srgbClr val="5F6B7A"/>
                </a:solidFill>
              </a:defRPr>
            </a:lvl1pPr>
          </a:lstStyle>
          <a:p>
            <a:pPr/>
            <a:r>
              <a:t>LTRC 2.0  •  Global Standard for Indic AI</a:t>
            </a:r>
          </a:p>
        </p:txBody>
      </p:sp>
      <p:sp>
        <p:nvSpPr>
          <p:cNvPr id="295" name="Text 2"/>
          <p:cNvSpPr txBox="1"/>
          <p:nvPr/>
        </p:nvSpPr>
        <p:spPr>
          <a:xfrm>
            <a:off x="457200" y="6520180"/>
            <a:ext cx="5486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F6B7A"/>
                </a:solidFill>
              </a:defRPr>
            </a:lvl1pPr>
          </a:lstStyle>
          <a:p>
            <a:pPr/>
            <a:r>
              <a:t>LTRC, IIIT Hyderabad</a:t>
            </a:r>
          </a:p>
        </p:txBody>
      </p:sp>
      <p:sp>
        <p:nvSpPr>
          <p:cNvPr id="296" name="Text 3"/>
          <p:cNvSpPr txBox="1"/>
          <p:nvPr/>
        </p:nvSpPr>
        <p:spPr>
          <a:xfrm>
            <a:off x="457199" y="777239"/>
            <a:ext cx="112471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Success Criteria — Status</a:t>
            </a:r>
          </a:p>
        </p:txBody>
      </p:sp>
      <p:sp>
        <p:nvSpPr>
          <p:cNvPr id="297" name="Text 4"/>
          <p:cNvSpPr txBox="1"/>
          <p:nvPr/>
        </p:nvSpPr>
        <p:spPr>
          <a:xfrm>
            <a:off x="457199" y="1386648"/>
            <a:ext cx="112471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1C7293"/>
                </a:solidFill>
              </a:defRPr>
            </a:lvl1pPr>
          </a:lstStyle>
          <a:p>
            <a:pPr/>
            <a:r>
              <a:t>Where each commitment stands today</a:t>
            </a:r>
          </a:p>
        </p:txBody>
      </p:sp>
      <p:sp>
        <p:nvSpPr>
          <p:cNvPr id="298" name="Shape 5"/>
          <p:cNvSpPr/>
          <p:nvPr/>
        </p:nvSpPr>
        <p:spPr>
          <a:xfrm>
            <a:off x="457199" y="1874520"/>
            <a:ext cx="11247122" cy="457201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Text 6"/>
          <p:cNvSpPr txBox="1"/>
          <p:nvPr/>
        </p:nvSpPr>
        <p:spPr>
          <a:xfrm>
            <a:off x="685800" y="2035986"/>
            <a:ext cx="77724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FFFFFF"/>
                </a:solidFill>
              </a:defRPr>
            </a:lvl1pPr>
          </a:lstStyle>
          <a:p>
            <a:pPr/>
            <a:r>
              <a:t>CRITERION</a:t>
            </a:r>
          </a:p>
        </p:txBody>
      </p:sp>
      <p:sp>
        <p:nvSpPr>
          <p:cNvPr id="300" name="Text 7"/>
          <p:cNvSpPr txBox="1"/>
          <p:nvPr/>
        </p:nvSpPr>
        <p:spPr>
          <a:xfrm>
            <a:off x="8686800" y="2035986"/>
            <a:ext cx="1828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FFFFFF"/>
                </a:solidFill>
              </a:defRPr>
            </a:lvl1pPr>
          </a:lstStyle>
          <a:p>
            <a:pPr/>
            <a:r>
              <a:t>STATUS</a:t>
            </a:r>
          </a:p>
        </p:txBody>
      </p:sp>
      <p:sp>
        <p:nvSpPr>
          <p:cNvPr id="301" name="Text 8"/>
          <p:cNvSpPr txBox="1"/>
          <p:nvPr/>
        </p:nvSpPr>
        <p:spPr>
          <a:xfrm>
            <a:off x="10515600" y="2035986"/>
            <a:ext cx="10972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300" sz="1100">
                <a:solidFill>
                  <a:srgbClr val="FFFFFF"/>
                </a:solidFill>
              </a:defRPr>
            </a:lvl1pPr>
          </a:lstStyle>
          <a:p>
            <a:pPr/>
            <a:r>
              <a:t>LABEL</a:t>
            </a:r>
          </a:p>
        </p:txBody>
      </p:sp>
      <p:sp>
        <p:nvSpPr>
          <p:cNvPr id="302" name="Shape 9"/>
          <p:cNvSpPr/>
          <p:nvPr/>
        </p:nvSpPr>
        <p:spPr>
          <a:xfrm>
            <a:off x="457199" y="2331720"/>
            <a:ext cx="11247122" cy="32918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Text 10"/>
          <p:cNvSpPr txBox="1"/>
          <p:nvPr/>
        </p:nvSpPr>
        <p:spPr>
          <a:xfrm>
            <a:off x="685800" y="2429178"/>
            <a:ext cx="77724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Workshop branding and scope locked</a:t>
            </a:r>
          </a:p>
        </p:txBody>
      </p:sp>
      <p:sp>
        <p:nvSpPr>
          <p:cNvPr id="304" name="Text 11"/>
          <p:cNvSpPr txBox="1"/>
          <p:nvPr/>
        </p:nvSpPr>
        <p:spPr>
          <a:xfrm>
            <a:off x="8686800" y="2429178"/>
            <a:ext cx="18288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Done</a:t>
            </a:r>
          </a:p>
        </p:txBody>
      </p:sp>
      <p:sp>
        <p:nvSpPr>
          <p:cNvPr id="305" name="Shape 12"/>
          <p:cNvSpPr/>
          <p:nvPr/>
        </p:nvSpPr>
        <p:spPr>
          <a:xfrm>
            <a:off x="10652759" y="2386583"/>
            <a:ext cx="822961" cy="219457"/>
          </a:xfrm>
          <a:prstGeom prst="rect">
            <a:avLst/>
          </a:prstGeom>
          <a:solidFill>
            <a:srgbClr val="1F8A5C"/>
          </a:solidFill>
          <a:ln w="12700">
            <a:solidFill>
              <a:srgbClr val="1F8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13"/>
          <p:cNvSpPr txBox="1"/>
          <p:nvPr/>
        </p:nvSpPr>
        <p:spPr>
          <a:xfrm>
            <a:off x="10652759" y="243281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DONE</a:t>
            </a:r>
          </a:p>
        </p:txBody>
      </p:sp>
      <p:sp>
        <p:nvSpPr>
          <p:cNvPr id="307" name="Shape 14"/>
          <p:cNvSpPr/>
          <p:nvPr/>
        </p:nvSpPr>
        <p:spPr>
          <a:xfrm>
            <a:off x="457199" y="2660904"/>
            <a:ext cx="11247122" cy="329185"/>
          </a:xfrm>
          <a:prstGeom prst="rect">
            <a:avLst/>
          </a:prstGeom>
          <a:solidFill>
            <a:srgbClr val="EEF2F7"/>
          </a:solidFill>
          <a:ln w="6350">
            <a:solidFill>
              <a:srgbClr val="E0E0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15"/>
          <p:cNvSpPr txBox="1"/>
          <p:nvPr/>
        </p:nvSpPr>
        <p:spPr>
          <a:xfrm>
            <a:off x="685800" y="2758362"/>
            <a:ext cx="77724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SLT-Eval 2027 website</a:t>
            </a:r>
          </a:p>
        </p:txBody>
      </p:sp>
      <p:sp>
        <p:nvSpPr>
          <p:cNvPr id="309" name="Text 16"/>
          <p:cNvSpPr txBox="1"/>
          <p:nvPr/>
        </p:nvSpPr>
        <p:spPr>
          <a:xfrm>
            <a:off x="8686800" y="2758362"/>
            <a:ext cx="18288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Done</a:t>
            </a:r>
          </a:p>
        </p:txBody>
      </p:sp>
      <p:sp>
        <p:nvSpPr>
          <p:cNvPr id="310" name="Shape 17"/>
          <p:cNvSpPr/>
          <p:nvPr/>
        </p:nvSpPr>
        <p:spPr>
          <a:xfrm>
            <a:off x="10652759" y="2715767"/>
            <a:ext cx="822961" cy="219457"/>
          </a:xfrm>
          <a:prstGeom prst="rect">
            <a:avLst/>
          </a:prstGeom>
          <a:solidFill>
            <a:srgbClr val="1F8A5C"/>
          </a:solidFill>
          <a:ln w="12700">
            <a:solidFill>
              <a:srgbClr val="1F8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Text 18"/>
          <p:cNvSpPr txBox="1"/>
          <p:nvPr/>
        </p:nvSpPr>
        <p:spPr>
          <a:xfrm>
            <a:off x="10652759" y="2761995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DONE</a:t>
            </a:r>
          </a:p>
        </p:txBody>
      </p:sp>
      <p:sp>
        <p:nvSpPr>
          <p:cNvPr id="312" name="Shape 19"/>
          <p:cNvSpPr/>
          <p:nvPr/>
        </p:nvSpPr>
        <p:spPr>
          <a:xfrm>
            <a:off x="457199" y="2990088"/>
            <a:ext cx="11247122" cy="32918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Text 20"/>
          <p:cNvSpPr txBox="1"/>
          <p:nvPr/>
        </p:nvSpPr>
        <p:spPr>
          <a:xfrm>
            <a:off x="685800" y="3087546"/>
            <a:ext cx="77724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Call for Papers drafted across speech + NLP</a:t>
            </a:r>
          </a:p>
        </p:txBody>
      </p:sp>
      <p:sp>
        <p:nvSpPr>
          <p:cNvPr id="314" name="Text 21"/>
          <p:cNvSpPr txBox="1"/>
          <p:nvPr/>
        </p:nvSpPr>
        <p:spPr>
          <a:xfrm>
            <a:off x="8686800" y="3087546"/>
            <a:ext cx="18288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Done</a:t>
            </a:r>
          </a:p>
        </p:txBody>
      </p:sp>
      <p:sp>
        <p:nvSpPr>
          <p:cNvPr id="315" name="Shape 22"/>
          <p:cNvSpPr/>
          <p:nvPr/>
        </p:nvSpPr>
        <p:spPr>
          <a:xfrm>
            <a:off x="10652759" y="3044951"/>
            <a:ext cx="822961" cy="219457"/>
          </a:xfrm>
          <a:prstGeom prst="rect">
            <a:avLst/>
          </a:prstGeom>
          <a:solidFill>
            <a:srgbClr val="1F8A5C"/>
          </a:solidFill>
          <a:ln w="12700">
            <a:solidFill>
              <a:srgbClr val="1F8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Text 23"/>
          <p:cNvSpPr txBox="1"/>
          <p:nvPr/>
        </p:nvSpPr>
        <p:spPr>
          <a:xfrm>
            <a:off x="10652759" y="3091179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DONE</a:t>
            </a:r>
          </a:p>
        </p:txBody>
      </p:sp>
      <p:sp>
        <p:nvSpPr>
          <p:cNvPr id="317" name="Shape 24"/>
          <p:cNvSpPr/>
          <p:nvPr/>
        </p:nvSpPr>
        <p:spPr>
          <a:xfrm>
            <a:off x="457199" y="3319271"/>
            <a:ext cx="11247122" cy="329185"/>
          </a:xfrm>
          <a:prstGeom prst="rect">
            <a:avLst/>
          </a:prstGeom>
          <a:solidFill>
            <a:srgbClr val="EEF2F7"/>
          </a:solidFill>
          <a:ln w="6350">
            <a:solidFill>
              <a:srgbClr val="E0E0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Text 25"/>
          <p:cNvSpPr txBox="1"/>
          <p:nvPr/>
        </p:nvSpPr>
        <p:spPr>
          <a:xfrm>
            <a:off x="685800" y="3416729"/>
            <a:ext cx="77724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Shared tasks defined across speech and language tracks</a:t>
            </a:r>
          </a:p>
        </p:txBody>
      </p:sp>
      <p:sp>
        <p:nvSpPr>
          <p:cNvPr id="319" name="Text 26"/>
          <p:cNvSpPr txBox="1"/>
          <p:nvPr/>
        </p:nvSpPr>
        <p:spPr>
          <a:xfrm>
            <a:off x="8686800" y="3416729"/>
            <a:ext cx="18288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In Progress</a:t>
            </a:r>
          </a:p>
        </p:txBody>
      </p:sp>
      <p:sp>
        <p:nvSpPr>
          <p:cNvPr id="320" name="Shape 27"/>
          <p:cNvSpPr/>
          <p:nvPr/>
        </p:nvSpPr>
        <p:spPr>
          <a:xfrm>
            <a:off x="10652759" y="3374135"/>
            <a:ext cx="822961" cy="219457"/>
          </a:xfrm>
          <a:prstGeom prst="rect">
            <a:avLst/>
          </a:prstGeom>
          <a:solidFill>
            <a:srgbClr val="BE7E33"/>
          </a:solidFill>
          <a:ln w="12700">
            <a:solidFill>
              <a:srgbClr val="1F8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Text 28"/>
          <p:cNvSpPr txBox="1"/>
          <p:nvPr/>
        </p:nvSpPr>
        <p:spPr>
          <a:xfrm>
            <a:off x="10652759" y="3420364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WIP</a:t>
            </a:r>
          </a:p>
        </p:txBody>
      </p:sp>
      <p:sp>
        <p:nvSpPr>
          <p:cNvPr id="322" name="Shape 29"/>
          <p:cNvSpPr/>
          <p:nvPr/>
        </p:nvSpPr>
        <p:spPr>
          <a:xfrm>
            <a:off x="457199" y="3648455"/>
            <a:ext cx="11247122" cy="32918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Text 30"/>
          <p:cNvSpPr txBox="1"/>
          <p:nvPr/>
        </p:nvSpPr>
        <p:spPr>
          <a:xfrm>
            <a:off x="685800" y="3745913"/>
            <a:ext cx="77724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Committee shortlist drafted</a:t>
            </a:r>
          </a:p>
        </p:txBody>
      </p:sp>
      <p:sp>
        <p:nvSpPr>
          <p:cNvPr id="324" name="Text 31"/>
          <p:cNvSpPr txBox="1"/>
          <p:nvPr/>
        </p:nvSpPr>
        <p:spPr>
          <a:xfrm>
            <a:off x="8686800" y="3745913"/>
            <a:ext cx="18288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In progress</a:t>
            </a:r>
          </a:p>
        </p:txBody>
      </p:sp>
      <p:sp>
        <p:nvSpPr>
          <p:cNvPr id="325" name="Shape 32"/>
          <p:cNvSpPr/>
          <p:nvPr/>
        </p:nvSpPr>
        <p:spPr>
          <a:xfrm>
            <a:off x="10652759" y="3703320"/>
            <a:ext cx="822961" cy="219457"/>
          </a:xfrm>
          <a:prstGeom prst="rect">
            <a:avLst/>
          </a:prstGeom>
          <a:solidFill>
            <a:srgbClr val="BE7E33"/>
          </a:solidFill>
          <a:ln w="12700">
            <a:solidFill>
              <a:srgbClr val="1F8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33"/>
          <p:cNvSpPr txBox="1"/>
          <p:nvPr/>
        </p:nvSpPr>
        <p:spPr>
          <a:xfrm>
            <a:off x="10652759" y="3749548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WIP</a:t>
            </a:r>
          </a:p>
        </p:txBody>
      </p:sp>
      <p:sp>
        <p:nvSpPr>
          <p:cNvPr id="327" name="Shape 34"/>
          <p:cNvSpPr/>
          <p:nvPr/>
        </p:nvSpPr>
        <p:spPr>
          <a:xfrm>
            <a:off x="457199" y="3977640"/>
            <a:ext cx="11247122" cy="329185"/>
          </a:xfrm>
          <a:prstGeom prst="rect">
            <a:avLst/>
          </a:prstGeom>
          <a:solidFill>
            <a:srgbClr val="EEF2F7"/>
          </a:solidFill>
          <a:ln w="6350">
            <a:solidFill>
              <a:srgbClr val="E0E0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35"/>
          <p:cNvSpPr txBox="1"/>
          <p:nvPr/>
        </p:nvSpPr>
        <p:spPr>
          <a:xfrm>
            <a:off x="685800" y="4075098"/>
            <a:ext cx="77724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IEEE SPS Technical Co-Sponsorship paperwork</a:t>
            </a:r>
          </a:p>
        </p:txBody>
      </p:sp>
      <p:sp>
        <p:nvSpPr>
          <p:cNvPr id="329" name="Text 36"/>
          <p:cNvSpPr txBox="1"/>
          <p:nvPr/>
        </p:nvSpPr>
        <p:spPr>
          <a:xfrm>
            <a:off x="8686800" y="4075098"/>
            <a:ext cx="1828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In progress</a:t>
            </a:r>
          </a:p>
        </p:txBody>
      </p:sp>
      <p:sp>
        <p:nvSpPr>
          <p:cNvPr id="330" name="Shape 37"/>
          <p:cNvSpPr/>
          <p:nvPr/>
        </p:nvSpPr>
        <p:spPr>
          <a:xfrm>
            <a:off x="10652759" y="4032503"/>
            <a:ext cx="822961" cy="219457"/>
          </a:xfrm>
          <a:prstGeom prst="rect">
            <a:avLst/>
          </a:prstGeom>
          <a:solidFill>
            <a:srgbClr val="BE7E33"/>
          </a:solidFill>
          <a:ln w="12700">
            <a:solidFill>
              <a:srgbClr val="1F8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Text 38"/>
          <p:cNvSpPr txBox="1"/>
          <p:nvPr/>
        </p:nvSpPr>
        <p:spPr>
          <a:xfrm>
            <a:off x="10652759" y="4078732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WIP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0"/>
          <p:cNvSpPr/>
          <p:nvPr/>
        </p:nvSpPr>
        <p:spPr>
          <a:xfrm>
            <a:off x="-1" y="0"/>
            <a:ext cx="12161522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Text 1"/>
          <p:cNvSpPr txBox="1"/>
          <p:nvPr/>
        </p:nvSpPr>
        <p:spPr>
          <a:xfrm>
            <a:off x="609600" y="1150568"/>
            <a:ext cx="109728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492" sz="1600">
                <a:solidFill>
                  <a:srgbClr val="D4A017"/>
                </a:solidFill>
              </a:defRPr>
            </a:lvl1pPr>
          </a:lstStyle>
          <a:p>
            <a:pPr/>
            <a:r>
              <a:t>LTRC 2.0  •  GLOBAL STANDARD FOR INDIC AI</a:t>
            </a:r>
          </a:p>
        </p:txBody>
      </p:sp>
      <p:sp>
        <p:nvSpPr>
          <p:cNvPr id="335" name="Text 2"/>
          <p:cNvSpPr txBox="1"/>
          <p:nvPr/>
        </p:nvSpPr>
        <p:spPr>
          <a:xfrm>
            <a:off x="594359" y="2005405"/>
            <a:ext cx="10972801" cy="1130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36" name="Text 3"/>
          <p:cNvSpPr txBox="1"/>
          <p:nvPr/>
        </p:nvSpPr>
        <p:spPr>
          <a:xfrm>
            <a:off x="594359" y="3434274"/>
            <a:ext cx="109728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2600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SLT-Eval 2027: Speech and Language Technology Evaluation Workshop</a:t>
            </a:r>
          </a:p>
        </p:txBody>
      </p:sp>
      <p:sp>
        <p:nvSpPr>
          <p:cNvPr id="337" name="Shape 6"/>
          <p:cNvSpPr/>
          <p:nvPr/>
        </p:nvSpPr>
        <p:spPr>
          <a:xfrm>
            <a:off x="-1" y="6748271"/>
            <a:ext cx="12161522" cy="10972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3"/>
          <p:cNvSpPr txBox="1"/>
          <p:nvPr/>
        </p:nvSpPr>
        <p:spPr>
          <a:xfrm>
            <a:off x="609600" y="4678463"/>
            <a:ext cx="109728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3600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Any Questions?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